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Any member opens.
We are the INT2065 group. Please type our four names over the boxes before we present.
Our proposal is one 60-minute lesson for Secondary 5 or 6, Elective Option C. Students add an item to a stack, a queue and a linear linked list. A browser page shows one change at a time.
A takes objectives and pedagogy. B takes the lesson and the worksheet. C takes the AI and the system. D takes value, feasibility and ethics. Then we have five minutes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Member A.
The learning problem is not the names of the three structures. It is that TOP, REAR and NEXT move inside an array, and a finished diagram hides that movement. Students can copy the row and still not know which index changed.
So the page reveals one change. Students write it before they see it. Every material uses 15, 28 and 41, so we are comparing pointers, not new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Member A.
These five points are the lesson objectives. They match the start of the elective outcome: construct lists, stacks and queues in terms of arrays.
Read them as a set, not one by one in full. Stress two limits. Arrays are numbered from 1, as in the public exam. This lesson only adds data. pop, dequeue, delete, and students writing programs, are the next lesson.
Objective 4 is the one that needs time: NEXT of the new node is set before NEXT of the old node is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55 seconds. Member A. This closes A's 2.5 minutes.
Four decisions. One array picture, so the lesson is a comparison. One new operation each, so TOP, FRONT, REAR and NEXT are not all moving on the same diagram.
The method is a worked example, then completion. The teacher does the first step on the page. Students write the next step. The page then reveals it.
The linked-list insert is the only two-pointer change, so it is the longest task, done in pairs. The safe order is: put 28 in the free node, point that node at 41, and only then point 15 at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Member B.
Walk the hour, do not read every line. The opening uses knowledge they already have: inserting in the middle of an array slides later cells along. In all three structures today, the later values stay where they are.
Stack and queue use the same three numbers. The list uses them too. From 48 minutes the page is closed, so the comparison comes from the students' own rows.
The exit strip uses 7 and 9, then push 4, so they cannot copy 15, 28 and 41. The last sentence names the next lesson: pop, dequeue and delete. We do not teach those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Member B. This closes B's 2 minutes.
The worksheet is the record we collect. Blue cells are the worked example. Yellow cells are blank on purpose.
On the stack, push 15 is already printed, because the teacher models it. Push 28 and push 41 are blank. On the queue, even the first enqueue is blank, and there is one sentence: why is FRONT still 1?
On the list, the first two lines are printed. The pair writes NEXT[1], then says what is lost if that line is done first. The answer we expect is the arrow from 15 to 41.
The answer key is a later page of the same file. It is marked do not print for students. The exit strip uses different numbers and sits on its own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80 seconds. Member C.
Be precise about the AI. We do not claim the visualiser is a model. The page is a step tracer.
The generative part is the hint wording. A model may draft one sentence per click. In this project the drafts were edited so that a hint asks where the pointer moves, and does not state the next number. The teacher still checks each sentence against the answer key, then saves it.
During class the Hint button shows that saved sentence. There is no network call, so a connection failure cannot change what students see, and an unchecked sentence cannot reach them.
Say the concept in one line: generation, then human verification, then a fixed output. Students remain responsible for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Member C. This closes C's 3 minutes. If you can, switch to the HTML file for 20 seconds here, on the list, and press Next three times. If you cannot project the file, stay on this slide.
The system is deliberately small. One offline page. Three modes. Next, Back, Reset, Hint.
Show the click rule. For the stack, the first click moves TOP from 0 to 1. The second click writes 15 into S[1]. The queue does the same with REAR. FRONT is labelled on cell 1 the whole time, and enqueue never assigns it.
For the list, click 1 puts 28 in the free node. Click 2 points that node at 41, while 15 still points at 41, so 28 is not on the chain from HEAD yet. Click 3 points 15 at 28. That is the picture students find hardest, and it is why the page exists.
The page does not read the worksheet and does not fill it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70 seconds. Member D.
Value first. The lesson is worth giving because the hard part is visible for one step, and then the student has to write it. We do not assess the page. We collect the worksheet.
Feasibility second. Be honest about time. Three traces do not fit a 40-minute single period, so the plan is one 60-minute lesson. The technical demand on a school is one browser. There is a fallback: the blue and yellow tables are enough to teach the hour if the file cannot be projected.
Pairs are used only for the insert, so the room does not need one computer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70 seconds. Member D. This closes D's 2.5 minutes.
Three points, then stop.
First, the check happens before students see anything. The social risk of a generated hint is a confident wrong sentence, or a sentence that does the student's work. Both are caught by reading the hint against the table.
Second, the lesson spends its last minute on that rule out loud: a hint is not the answer.
Third, name the framework once: the Education Bureau AI Literacy Learning Framework for Primary and Secondary Schools, 2026. The teacher remains responsible for the material. The learner does the reasoning.
Do not claim the tool monitors students, stores their answers, or marks them. It does none of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stay.
If a question is outside your part, take it in one sentence and hand it to the person named here.
Likely questions and short answers:
Why not all seven OSI layers, or a live chatbot? Because the assessed outcome is array implementations of these three structures, and a live model could fill the yellow cell.
Why not pop as well? One lesson cannot hold add and remove without mixing the pointers. Removal is named and then stopped.
Why two clicks for one worksheet row? So the class sees the pointer move before the value appears.
Is the page itself artificial intelligence? No. The generative step is the drafting of hints, which are then checked and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594360" y="384048"/>
            <a:ext cx="6400800" cy="274320"/>
          </a:xfrm>
          <a:prstGeom prst="rect">
            <a:avLst/>
          </a:prstGeom>
          <a:noFill/>
          <a:ln/>
        </p:spPr>
        <p:txBody>
          <a:bodyPr wrap="square" lIns="0" tIns="0" rIns="0" bIns="0" rtlCol="0" anchor="ctr"/>
          <a:lstStyle/>
          <a:p>
            <a:pPr indent="0" marL="0">
              <a:buNone/>
            </a:pPr>
            <a:r>
              <a:rPr lang="en-US" sz="1300" dirty="0">
                <a:solidFill>
                  <a:srgbClr val="8590A0"/>
                </a:solidFill>
                <a:latin typeface="Calibri" pitchFamily="34" charset="0"/>
                <a:ea typeface="Calibri" pitchFamily="34" charset="-122"/>
                <a:cs typeface="Calibri" pitchFamily="34" charset="-120"/>
              </a:rPr>
              <a:t>INT2065  ·  GROUP PROJECT</a:t>
            </a:r>
            <a:endParaRPr lang="en-US" sz="1300" dirty="0"/>
          </a:p>
        </p:txBody>
      </p:sp>
      <p:sp>
        <p:nvSpPr>
          <p:cNvPr id="3" name="Text 1"/>
          <p:cNvSpPr/>
          <p:nvPr/>
        </p:nvSpPr>
        <p:spPr>
          <a:xfrm>
            <a:off x="6675120" y="384048"/>
            <a:ext cx="4937760" cy="274320"/>
          </a:xfrm>
          <a:prstGeom prst="rect">
            <a:avLst/>
          </a:prstGeom>
          <a:noFill/>
          <a:ln/>
        </p:spPr>
        <p:txBody>
          <a:bodyPr wrap="square" lIns="0" tIns="0" rIns="0" bIns="0" rtlCol="0" anchor="ctr"/>
          <a:lstStyle/>
          <a:p>
            <a:pPr algn="r" indent="0" marL="0">
              <a:buNone/>
            </a:pPr>
            <a:r>
              <a:rPr lang="en-US" sz="1300" dirty="0">
                <a:solidFill>
                  <a:srgbClr val="8590A0"/>
                </a:solidFill>
                <a:latin typeface="Calibri" pitchFamily="34" charset="0"/>
                <a:ea typeface="Calibri" pitchFamily="34" charset="-122"/>
                <a:cs typeface="Calibri" pitchFamily="34" charset="-120"/>
              </a:rPr>
              <a:t>10 MINUTES  +  5 MINUTES</a:t>
            </a:r>
            <a:endParaRPr lang="en-US" sz="1300" dirty="0"/>
          </a:p>
        </p:txBody>
      </p:sp>
      <p:sp>
        <p:nvSpPr>
          <p:cNvPr id="4" name="Text 2"/>
          <p:cNvSpPr/>
          <p:nvPr/>
        </p:nvSpPr>
        <p:spPr>
          <a:xfrm>
            <a:off x="594360" y="1691640"/>
            <a:ext cx="7315200" cy="292608"/>
          </a:xfrm>
          <a:prstGeom prst="rect">
            <a:avLst/>
          </a:prstGeom>
          <a:noFill/>
          <a:ln/>
        </p:spPr>
        <p:txBody>
          <a:bodyPr wrap="square" lIns="0" tIns="0" rIns="0" bIns="0" rtlCol="0" anchor="ctr"/>
          <a:lstStyle/>
          <a:p>
            <a:pPr indent="0" marL="0">
              <a:buNone/>
            </a:pPr>
            <a:r>
              <a:rPr lang="en-US" sz="1400" b="1" dirty="0">
                <a:solidFill>
                  <a:srgbClr val="E8624D"/>
                </a:solidFill>
                <a:latin typeface="Calibri" pitchFamily="34" charset="0"/>
                <a:ea typeface="Calibri" pitchFamily="34" charset="-122"/>
                <a:cs typeface="Calibri" pitchFamily="34" charset="-120"/>
              </a:rPr>
              <a:t>S.5 / S.6   ·   ELECTIVE OPTION C</a:t>
            </a:r>
            <a:endParaRPr lang="en-US" sz="1400" dirty="0"/>
          </a:p>
        </p:txBody>
      </p:sp>
      <p:sp>
        <p:nvSpPr>
          <p:cNvPr id="5" name="Text 3"/>
          <p:cNvSpPr/>
          <p:nvPr/>
        </p:nvSpPr>
        <p:spPr>
          <a:xfrm>
            <a:off x="594360" y="2057400"/>
            <a:ext cx="7498080" cy="1737360"/>
          </a:xfrm>
          <a:prstGeom prst="rect">
            <a:avLst/>
          </a:prstGeom>
          <a:noFill/>
          <a:ln/>
        </p:spPr>
        <p:txBody>
          <a:bodyPr wrap="square" lIns="0" tIns="0" rIns="0" bIns="0" rtlCol="0" anchor="ctr"/>
          <a:lstStyle/>
          <a:p>
            <a:pPr indent="0" marL="0">
              <a:buNone/>
            </a:pPr>
            <a:r>
              <a:rPr lang="en-US" sz="5400" b="1" dirty="0">
                <a:solidFill>
                  <a:srgbClr val="F4EFE6"/>
                </a:solidFill>
                <a:latin typeface="Calibri" pitchFamily="34" charset="0"/>
                <a:ea typeface="Calibri" pitchFamily="34" charset="-122"/>
                <a:cs typeface="Calibri" pitchFamily="34" charset="-120"/>
              </a:rPr>
              <a:t>One change</a:t>
            </a:r>
            <a:endParaRPr lang="en-US" sz="5400" dirty="0"/>
          </a:p>
          <a:p>
            <a:pPr indent="0" marL="0">
              <a:buNone/>
            </a:pPr>
            <a:r>
              <a:rPr lang="en-US" sz="5400" b="1" dirty="0">
                <a:solidFill>
                  <a:srgbClr val="F4EFE6"/>
                </a:solidFill>
                <a:latin typeface="Calibri" pitchFamily="34" charset="0"/>
                <a:ea typeface="Calibri" pitchFamily="34" charset="-122"/>
                <a:cs typeface="Calibri" pitchFamily="34" charset="-120"/>
              </a:rPr>
              <a:t>at a time</a:t>
            </a:r>
            <a:endParaRPr lang="en-US" sz="5400" dirty="0"/>
          </a:p>
        </p:txBody>
      </p:sp>
      <p:sp>
        <p:nvSpPr>
          <p:cNvPr id="6" name="Text 4"/>
          <p:cNvSpPr/>
          <p:nvPr/>
        </p:nvSpPr>
        <p:spPr>
          <a:xfrm>
            <a:off x="594360" y="3931920"/>
            <a:ext cx="7680960" cy="640080"/>
          </a:xfrm>
          <a:prstGeom prst="rect">
            <a:avLst/>
          </a:prstGeom>
          <a:noFill/>
          <a:ln/>
        </p:spPr>
        <p:txBody>
          <a:bodyPr wrap="square" lIns="0" tIns="0" rIns="0" bIns="0" rtlCol="0" anchor="ctr"/>
          <a:lstStyle/>
          <a:p>
            <a:pPr indent="0" marL="0">
              <a:buNone/>
            </a:pPr>
            <a:r>
              <a:rPr lang="en-US" sz="1600" dirty="0">
                <a:solidFill>
                  <a:srgbClr val="F4EFE6"/>
                </a:solidFill>
                <a:latin typeface="Calibri" pitchFamily="34" charset="0"/>
                <a:ea typeface="Calibri" pitchFamily="34" charset="-122"/>
                <a:cs typeface="Calibri" pitchFamily="34" charset="-120"/>
              </a:rPr>
              <a:t>A lesson and a browser visualiser for adding an item to a stack, a queue and a linear linked list.</a:t>
            </a:r>
            <a:endParaRPr lang="en-US" sz="1600" dirty="0"/>
          </a:p>
        </p:txBody>
      </p:sp>
      <p:sp>
        <p:nvSpPr>
          <p:cNvPr id="7" name="Shape 5"/>
          <p:cNvSpPr/>
          <p:nvPr/>
        </p:nvSpPr>
        <p:spPr>
          <a:xfrm>
            <a:off x="594360" y="5074920"/>
            <a:ext cx="2697480" cy="1234440"/>
          </a:xfrm>
          <a:prstGeom prst="rect">
            <a:avLst/>
          </a:prstGeom>
          <a:solidFill>
            <a:srgbClr val="17263A"/>
          </a:solidFill>
          <a:ln/>
        </p:spPr>
      </p:sp>
      <p:sp>
        <p:nvSpPr>
          <p:cNvPr id="8" name="Text 6"/>
          <p:cNvSpPr/>
          <p:nvPr/>
        </p:nvSpPr>
        <p:spPr>
          <a:xfrm>
            <a:off x="740664" y="5193792"/>
            <a:ext cx="2377440" cy="256032"/>
          </a:xfrm>
          <a:prstGeom prst="rect">
            <a:avLst/>
          </a:prstGeom>
          <a:noFill/>
          <a:ln/>
        </p:spPr>
        <p:txBody>
          <a:bodyPr wrap="square" lIns="0" tIns="0" rIns="0" bIns="0" rtlCol="0" anchor="ctr"/>
          <a:lstStyle/>
          <a:p>
            <a:pPr indent="0" marL="0">
              <a:buNone/>
            </a:pPr>
            <a:r>
              <a:rPr lang="en-US" sz="1200" b="1" dirty="0">
                <a:solidFill>
                  <a:srgbClr val="E8624D"/>
                </a:solidFill>
                <a:latin typeface="Calibri" pitchFamily="34" charset="0"/>
                <a:ea typeface="Calibri" pitchFamily="34" charset="-122"/>
                <a:cs typeface="Calibri" pitchFamily="34" charset="-120"/>
              </a:rPr>
              <a:t>MEMBER  A</a:t>
            </a:r>
            <a:endParaRPr lang="en-US" sz="1200" dirty="0"/>
          </a:p>
        </p:txBody>
      </p:sp>
      <p:sp>
        <p:nvSpPr>
          <p:cNvPr id="9" name="Text 7"/>
          <p:cNvSpPr/>
          <p:nvPr/>
        </p:nvSpPr>
        <p:spPr>
          <a:xfrm>
            <a:off x="740664" y="5504688"/>
            <a:ext cx="2377440" cy="640080"/>
          </a:xfrm>
          <a:prstGeom prst="rect">
            <a:avLst/>
          </a:prstGeom>
          <a:noFill/>
          <a:ln/>
        </p:spPr>
        <p:txBody>
          <a:bodyPr wrap="square" lIns="0" tIns="0" rIns="0" bIns="0" rtlCol="0" anchor="ctr"/>
          <a:lstStyle/>
          <a:p>
            <a:pPr indent="0" marL="0">
              <a:buNone/>
            </a:pPr>
            <a:r>
              <a:rPr lang="en-US" sz="1500" dirty="0">
                <a:solidFill>
                  <a:srgbClr val="F4EFE6"/>
                </a:solidFill>
                <a:latin typeface="Calibri" pitchFamily="34" charset="0"/>
                <a:ea typeface="Calibri" pitchFamily="34" charset="-122"/>
                <a:cs typeface="Calibri" pitchFamily="34" charset="-120"/>
              </a:rPr>
              <a:t>Objectives</a:t>
            </a:r>
            <a:endParaRPr lang="en-US" sz="1500" dirty="0"/>
          </a:p>
          <a:p>
            <a:pPr indent="0" marL="0">
              <a:buNone/>
            </a:pPr>
            <a:r>
              <a:rPr lang="en-US" sz="1500" dirty="0">
                <a:solidFill>
                  <a:srgbClr val="F4EFE6"/>
                </a:solidFill>
                <a:latin typeface="Calibri" pitchFamily="34" charset="0"/>
                <a:ea typeface="Calibri" pitchFamily="34" charset="-122"/>
                <a:cs typeface="Calibri" pitchFamily="34" charset="-120"/>
              </a:rPr>
              <a:t>and pedagogy</a:t>
            </a:r>
            <a:endParaRPr lang="en-US" sz="1500" dirty="0"/>
          </a:p>
        </p:txBody>
      </p:sp>
      <p:sp>
        <p:nvSpPr>
          <p:cNvPr id="10" name="Shape 8"/>
          <p:cNvSpPr/>
          <p:nvPr/>
        </p:nvSpPr>
        <p:spPr>
          <a:xfrm>
            <a:off x="3429000" y="5074920"/>
            <a:ext cx="2697480" cy="1234440"/>
          </a:xfrm>
          <a:prstGeom prst="rect">
            <a:avLst/>
          </a:prstGeom>
          <a:solidFill>
            <a:srgbClr val="17263A"/>
          </a:solidFill>
          <a:ln/>
        </p:spPr>
      </p:sp>
      <p:sp>
        <p:nvSpPr>
          <p:cNvPr id="11" name="Text 9"/>
          <p:cNvSpPr/>
          <p:nvPr/>
        </p:nvSpPr>
        <p:spPr>
          <a:xfrm>
            <a:off x="3575304" y="5193792"/>
            <a:ext cx="2377440" cy="256032"/>
          </a:xfrm>
          <a:prstGeom prst="rect">
            <a:avLst/>
          </a:prstGeom>
          <a:noFill/>
          <a:ln/>
        </p:spPr>
        <p:txBody>
          <a:bodyPr wrap="square" lIns="0" tIns="0" rIns="0" bIns="0" rtlCol="0" anchor="ctr"/>
          <a:lstStyle/>
          <a:p>
            <a:pPr indent="0" marL="0">
              <a:buNone/>
            </a:pPr>
            <a:r>
              <a:rPr lang="en-US" sz="1200" b="1" dirty="0">
                <a:solidFill>
                  <a:srgbClr val="E8624D"/>
                </a:solidFill>
                <a:latin typeface="Calibri" pitchFamily="34" charset="0"/>
                <a:ea typeface="Calibri" pitchFamily="34" charset="-122"/>
                <a:cs typeface="Calibri" pitchFamily="34" charset="-120"/>
              </a:rPr>
              <a:t>MEMBER  B</a:t>
            </a:r>
            <a:endParaRPr lang="en-US" sz="1200" dirty="0"/>
          </a:p>
        </p:txBody>
      </p:sp>
      <p:sp>
        <p:nvSpPr>
          <p:cNvPr id="12" name="Text 10"/>
          <p:cNvSpPr/>
          <p:nvPr/>
        </p:nvSpPr>
        <p:spPr>
          <a:xfrm>
            <a:off x="3575304" y="5504688"/>
            <a:ext cx="2377440" cy="640080"/>
          </a:xfrm>
          <a:prstGeom prst="rect">
            <a:avLst/>
          </a:prstGeom>
          <a:noFill/>
          <a:ln/>
        </p:spPr>
        <p:txBody>
          <a:bodyPr wrap="square" lIns="0" tIns="0" rIns="0" bIns="0" rtlCol="0" anchor="ctr"/>
          <a:lstStyle/>
          <a:p>
            <a:pPr indent="0" marL="0">
              <a:buNone/>
            </a:pPr>
            <a:r>
              <a:rPr lang="en-US" sz="1500" dirty="0">
                <a:solidFill>
                  <a:srgbClr val="F4EFE6"/>
                </a:solidFill>
                <a:latin typeface="Calibri" pitchFamily="34" charset="0"/>
                <a:ea typeface="Calibri" pitchFamily="34" charset="-122"/>
                <a:cs typeface="Calibri" pitchFamily="34" charset="-120"/>
              </a:rPr>
              <a:t>Lesson</a:t>
            </a:r>
            <a:endParaRPr lang="en-US" sz="1500" dirty="0"/>
          </a:p>
          <a:p>
            <a:pPr indent="0" marL="0">
              <a:buNone/>
            </a:pPr>
            <a:r>
              <a:rPr lang="en-US" sz="1500" dirty="0">
                <a:solidFill>
                  <a:srgbClr val="F4EFE6"/>
                </a:solidFill>
                <a:latin typeface="Calibri" pitchFamily="34" charset="0"/>
                <a:ea typeface="Calibri" pitchFamily="34" charset="-122"/>
                <a:cs typeface="Calibri" pitchFamily="34" charset="-120"/>
              </a:rPr>
              <a:t>and worksheet</a:t>
            </a:r>
            <a:endParaRPr lang="en-US" sz="1500" dirty="0"/>
          </a:p>
        </p:txBody>
      </p:sp>
      <p:sp>
        <p:nvSpPr>
          <p:cNvPr id="13" name="Shape 11"/>
          <p:cNvSpPr/>
          <p:nvPr/>
        </p:nvSpPr>
        <p:spPr>
          <a:xfrm>
            <a:off x="6263640" y="5074920"/>
            <a:ext cx="2697480" cy="1234440"/>
          </a:xfrm>
          <a:prstGeom prst="rect">
            <a:avLst/>
          </a:prstGeom>
          <a:solidFill>
            <a:srgbClr val="17263A"/>
          </a:solidFill>
          <a:ln/>
        </p:spPr>
      </p:sp>
      <p:sp>
        <p:nvSpPr>
          <p:cNvPr id="14" name="Text 12"/>
          <p:cNvSpPr/>
          <p:nvPr/>
        </p:nvSpPr>
        <p:spPr>
          <a:xfrm>
            <a:off x="6409944" y="5193792"/>
            <a:ext cx="2377440" cy="256032"/>
          </a:xfrm>
          <a:prstGeom prst="rect">
            <a:avLst/>
          </a:prstGeom>
          <a:noFill/>
          <a:ln/>
        </p:spPr>
        <p:txBody>
          <a:bodyPr wrap="square" lIns="0" tIns="0" rIns="0" bIns="0" rtlCol="0" anchor="ctr"/>
          <a:lstStyle/>
          <a:p>
            <a:pPr indent="0" marL="0">
              <a:buNone/>
            </a:pPr>
            <a:r>
              <a:rPr lang="en-US" sz="1200" b="1" dirty="0">
                <a:solidFill>
                  <a:srgbClr val="E8624D"/>
                </a:solidFill>
                <a:latin typeface="Calibri" pitchFamily="34" charset="0"/>
                <a:ea typeface="Calibri" pitchFamily="34" charset="-122"/>
                <a:cs typeface="Calibri" pitchFamily="34" charset="-120"/>
              </a:rPr>
              <a:t>MEMBER  C</a:t>
            </a:r>
            <a:endParaRPr lang="en-US" sz="1200" dirty="0"/>
          </a:p>
        </p:txBody>
      </p:sp>
      <p:sp>
        <p:nvSpPr>
          <p:cNvPr id="15" name="Text 13"/>
          <p:cNvSpPr/>
          <p:nvPr/>
        </p:nvSpPr>
        <p:spPr>
          <a:xfrm>
            <a:off x="6409944" y="5504688"/>
            <a:ext cx="2377440" cy="640080"/>
          </a:xfrm>
          <a:prstGeom prst="rect">
            <a:avLst/>
          </a:prstGeom>
          <a:noFill/>
          <a:ln/>
        </p:spPr>
        <p:txBody>
          <a:bodyPr wrap="square" lIns="0" tIns="0" rIns="0" bIns="0" rtlCol="0" anchor="ctr"/>
          <a:lstStyle/>
          <a:p>
            <a:pPr indent="0" marL="0">
              <a:buNone/>
            </a:pPr>
            <a:r>
              <a:rPr lang="en-US" sz="1500" dirty="0">
                <a:solidFill>
                  <a:srgbClr val="F4EFE6"/>
                </a:solidFill>
                <a:latin typeface="Calibri" pitchFamily="34" charset="0"/>
                <a:ea typeface="Calibri" pitchFamily="34" charset="-122"/>
                <a:cs typeface="Calibri" pitchFamily="34" charset="-120"/>
              </a:rPr>
              <a:t>AI and</a:t>
            </a:r>
            <a:endParaRPr lang="en-US" sz="1500" dirty="0"/>
          </a:p>
          <a:p>
            <a:pPr indent="0" marL="0">
              <a:buNone/>
            </a:pPr>
            <a:r>
              <a:rPr lang="en-US" sz="1500" dirty="0">
                <a:solidFill>
                  <a:srgbClr val="F4EFE6"/>
                </a:solidFill>
                <a:latin typeface="Calibri" pitchFamily="34" charset="0"/>
                <a:ea typeface="Calibri" pitchFamily="34" charset="-122"/>
                <a:cs typeface="Calibri" pitchFamily="34" charset="-120"/>
              </a:rPr>
              <a:t>system design</a:t>
            </a:r>
            <a:endParaRPr lang="en-US" sz="1500" dirty="0"/>
          </a:p>
        </p:txBody>
      </p:sp>
      <p:sp>
        <p:nvSpPr>
          <p:cNvPr id="16" name="Shape 14"/>
          <p:cNvSpPr/>
          <p:nvPr/>
        </p:nvSpPr>
        <p:spPr>
          <a:xfrm>
            <a:off x="9098280" y="5074920"/>
            <a:ext cx="2697480" cy="1234440"/>
          </a:xfrm>
          <a:prstGeom prst="rect">
            <a:avLst/>
          </a:prstGeom>
          <a:solidFill>
            <a:srgbClr val="17263A"/>
          </a:solidFill>
          <a:ln/>
        </p:spPr>
      </p:sp>
      <p:sp>
        <p:nvSpPr>
          <p:cNvPr id="17" name="Text 15"/>
          <p:cNvSpPr/>
          <p:nvPr/>
        </p:nvSpPr>
        <p:spPr>
          <a:xfrm>
            <a:off x="9244584" y="5193792"/>
            <a:ext cx="2377440" cy="256032"/>
          </a:xfrm>
          <a:prstGeom prst="rect">
            <a:avLst/>
          </a:prstGeom>
          <a:noFill/>
          <a:ln/>
        </p:spPr>
        <p:txBody>
          <a:bodyPr wrap="square" lIns="0" tIns="0" rIns="0" bIns="0" rtlCol="0" anchor="ctr"/>
          <a:lstStyle/>
          <a:p>
            <a:pPr indent="0" marL="0">
              <a:buNone/>
            </a:pPr>
            <a:r>
              <a:rPr lang="en-US" sz="1200" b="1" dirty="0">
                <a:solidFill>
                  <a:srgbClr val="E8624D"/>
                </a:solidFill>
                <a:latin typeface="Calibri" pitchFamily="34" charset="0"/>
                <a:ea typeface="Calibri" pitchFamily="34" charset="-122"/>
                <a:cs typeface="Calibri" pitchFamily="34" charset="-120"/>
              </a:rPr>
              <a:t>MEMBER  D</a:t>
            </a:r>
            <a:endParaRPr lang="en-US" sz="1200" dirty="0"/>
          </a:p>
        </p:txBody>
      </p:sp>
      <p:sp>
        <p:nvSpPr>
          <p:cNvPr id="18" name="Text 16"/>
          <p:cNvSpPr/>
          <p:nvPr/>
        </p:nvSpPr>
        <p:spPr>
          <a:xfrm>
            <a:off x="9244584" y="5504688"/>
            <a:ext cx="2377440" cy="640080"/>
          </a:xfrm>
          <a:prstGeom prst="rect">
            <a:avLst/>
          </a:prstGeom>
          <a:noFill/>
          <a:ln/>
        </p:spPr>
        <p:txBody>
          <a:bodyPr wrap="square" lIns="0" tIns="0" rIns="0" bIns="0" rtlCol="0" anchor="ctr"/>
          <a:lstStyle/>
          <a:p>
            <a:pPr indent="0" marL="0">
              <a:buNone/>
            </a:pPr>
            <a:r>
              <a:rPr lang="en-US" sz="1500" dirty="0">
                <a:solidFill>
                  <a:srgbClr val="F4EFE6"/>
                </a:solidFill>
                <a:latin typeface="Calibri" pitchFamily="34" charset="0"/>
                <a:ea typeface="Calibri" pitchFamily="34" charset="-122"/>
                <a:cs typeface="Calibri" pitchFamily="34" charset="-120"/>
              </a:rPr>
              <a:t>Value, feasibility,</a:t>
            </a:r>
            <a:endParaRPr lang="en-US" sz="1500" dirty="0"/>
          </a:p>
          <a:p>
            <a:pPr indent="0" marL="0">
              <a:buNone/>
            </a:pPr>
            <a:r>
              <a:rPr lang="en-US" sz="1500" dirty="0">
                <a:solidFill>
                  <a:srgbClr val="F4EFE6"/>
                </a:solidFill>
                <a:latin typeface="Calibri" pitchFamily="34" charset="0"/>
                <a:ea typeface="Calibri" pitchFamily="34" charset="-122"/>
                <a:cs typeface="Calibri" pitchFamily="34" charset="-120"/>
              </a:rPr>
              <a:t>ethics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FE6"/>
        </a:solidFill>
      </p:bgPr>
    </p:bg>
    <p:spTree>
      <p:nvGrpSpPr>
        <p:cNvPr id="1" name=""/>
        <p:cNvGrpSpPr/>
        <p:nvPr/>
      </p:nvGrpSpPr>
      <p:grpSpPr>
        <a:xfrm>
          <a:off x="0" y="0"/>
          <a:ext cx="0" cy="0"/>
          <a:chOff x="0" y="0"/>
          <a:chExt cx="0" cy="0"/>
        </a:xfrm>
      </p:grpSpPr>
      <p:sp>
        <p:nvSpPr>
          <p:cNvPr id="2" name="Text 0"/>
          <p:cNvSpPr/>
          <p:nvPr/>
        </p:nvSpPr>
        <p:spPr>
          <a:xfrm>
            <a:off x="548640" y="347472"/>
            <a:ext cx="8412480" cy="292608"/>
          </a:xfrm>
          <a:prstGeom prst="rect">
            <a:avLst/>
          </a:prstGeom>
          <a:noFill/>
          <a:ln/>
        </p:spPr>
        <p:txBody>
          <a:bodyPr wrap="square" lIns="0" tIns="0" rIns="0" bIns="0" rtlCol="0" anchor="ctr"/>
          <a:lstStyle/>
          <a:p>
            <a:pPr indent="0" marL="0">
              <a:buNone/>
            </a:pPr>
            <a:r>
              <a:rPr lang="en-US" sz="1200" spc="220" kern="0" dirty="0">
                <a:solidFill>
                  <a:srgbClr val="5C6470"/>
                </a:solidFill>
                <a:latin typeface="Calibri" pitchFamily="34" charset="0"/>
                <a:ea typeface="Calibri" pitchFamily="34" charset="-122"/>
                <a:cs typeface="Calibri" pitchFamily="34" charset="-120"/>
              </a:rPr>
              <a:t>02    ·    MEMBER A    ·    WHY THIS LESSON</a:t>
            </a:r>
            <a:endParaRPr lang="en-US" sz="1200" dirty="0"/>
          </a:p>
        </p:txBody>
      </p:sp>
      <p:sp>
        <p:nvSpPr>
          <p:cNvPr id="3" name="Text 1"/>
          <p:cNvSpPr/>
          <p:nvPr/>
        </p:nvSpPr>
        <p:spPr>
          <a:xfrm>
            <a:off x="10271455" y="347472"/>
            <a:ext cx="1371600" cy="292608"/>
          </a:xfrm>
          <a:prstGeom prst="rect">
            <a:avLst/>
          </a:prstGeom>
          <a:noFill/>
          <a:ln/>
        </p:spPr>
        <p:txBody>
          <a:bodyPr wrap="square" lIns="0" tIns="0" rIns="0" bIns="0" rtlCol="0" anchor="ctr"/>
          <a:lstStyle/>
          <a:p>
            <a:pPr algn="r" indent="0" marL="0">
              <a:buNone/>
            </a:pPr>
            <a:r>
              <a:rPr lang="en-US" sz="1200" dirty="0">
                <a:solidFill>
                  <a:srgbClr val="5C6470"/>
                </a:solidFill>
                <a:latin typeface="Calibri" pitchFamily="34" charset="0"/>
                <a:ea typeface="Calibri" pitchFamily="34" charset="-122"/>
                <a:cs typeface="Calibri" pitchFamily="34" charset="-120"/>
              </a:rPr>
              <a:t>02  /  11</a:t>
            </a:r>
            <a:endParaRPr lang="en-US" sz="1200" dirty="0"/>
          </a:p>
        </p:txBody>
      </p:sp>
      <p:sp>
        <p:nvSpPr>
          <p:cNvPr id="4" name="Shape 2"/>
          <p:cNvSpPr/>
          <p:nvPr/>
        </p:nvSpPr>
        <p:spPr>
          <a:xfrm>
            <a:off x="548640" y="6355080"/>
            <a:ext cx="11094415" cy="0"/>
          </a:xfrm>
          <a:prstGeom prst="line">
            <a:avLst/>
          </a:prstGeom>
          <a:noFill/>
          <a:ln w="9525">
            <a:solidFill>
              <a:srgbClr val="C9C0B2"/>
            </a:solidFill>
            <a:prstDash val="solid"/>
          </a:ln>
        </p:spPr>
      </p:sp>
      <p:sp>
        <p:nvSpPr>
          <p:cNvPr id="5" name="Text 3"/>
          <p:cNvSpPr/>
          <p:nvPr/>
        </p:nvSpPr>
        <p:spPr>
          <a:xfrm>
            <a:off x="548640" y="6473952"/>
            <a:ext cx="5669280" cy="256032"/>
          </a:xfrm>
          <a:prstGeom prst="rect">
            <a:avLst/>
          </a:prstGeom>
          <a:noFill/>
          <a:ln/>
        </p:spPr>
        <p:txBody>
          <a:bodyPr wrap="square" lIns="0" tIns="0" rIns="0" bIns="0" rtlCol="0" anchor="ctr"/>
          <a:lstStyle/>
          <a:p>
            <a:pPr indent="0" marL="0">
              <a:buNone/>
            </a:pPr>
            <a:r>
              <a:rPr lang="en-US" sz="1100" dirty="0">
                <a:solidFill>
                  <a:srgbClr val="5C6470"/>
                </a:solidFill>
                <a:latin typeface="Calibri" pitchFamily="34" charset="0"/>
                <a:ea typeface="Calibri" pitchFamily="34" charset="-122"/>
                <a:cs typeface="Calibri" pitchFamily="34" charset="-120"/>
              </a:rPr>
              <a:t>INT2065  ·  GROUP PROJECT</a:t>
            </a:r>
            <a:endParaRPr lang="en-US" sz="1100" dirty="0"/>
          </a:p>
        </p:txBody>
      </p:sp>
      <p:sp>
        <p:nvSpPr>
          <p:cNvPr id="6" name="Text 4"/>
          <p:cNvSpPr/>
          <p:nvPr/>
        </p:nvSpPr>
        <p:spPr>
          <a:xfrm>
            <a:off x="5973775" y="6473952"/>
            <a:ext cx="5669280" cy="256032"/>
          </a:xfrm>
          <a:prstGeom prst="rect">
            <a:avLst/>
          </a:prstGeom>
          <a:noFill/>
          <a:ln/>
        </p:spPr>
        <p:txBody>
          <a:bodyPr wrap="square" lIns="0" tIns="0" rIns="0" bIns="0" rtlCol="0" anchor="ctr"/>
          <a:lstStyle/>
          <a:p>
            <a:pPr algn="r" indent="0" marL="0">
              <a:buNone/>
            </a:pPr>
            <a:r>
              <a:rPr lang="en-US" sz="1100" dirty="0">
                <a:solidFill>
                  <a:srgbClr val="5C6470"/>
                </a:solidFill>
                <a:latin typeface="Calibri" pitchFamily="34" charset="0"/>
                <a:ea typeface="Calibri" pitchFamily="34" charset="-122"/>
                <a:cs typeface="Calibri" pitchFamily="34" charset="-120"/>
              </a:rPr>
              <a:t>THE LEARNING PROBLEM</a:t>
            </a:r>
            <a:endParaRPr lang="en-US" sz="1100" dirty="0"/>
          </a:p>
        </p:txBody>
      </p:sp>
      <p:sp>
        <p:nvSpPr>
          <p:cNvPr id="7" name="Text 5"/>
          <p:cNvSpPr/>
          <p:nvPr/>
        </p:nvSpPr>
        <p:spPr>
          <a:xfrm>
            <a:off x="548640" y="713232"/>
            <a:ext cx="11064240" cy="475488"/>
          </a:xfrm>
          <a:prstGeom prst="rect">
            <a:avLst/>
          </a:prstGeom>
          <a:noFill/>
          <a:ln/>
        </p:spPr>
        <p:txBody>
          <a:bodyPr wrap="square" lIns="0" tIns="0" rIns="0" bIns="0" rtlCol="0" anchor="ctr"/>
          <a:lstStyle/>
          <a:p>
            <a:pPr indent="0" marL="0">
              <a:buNone/>
            </a:pPr>
            <a:r>
              <a:rPr lang="en-US" sz="2800" b="1" dirty="0">
                <a:solidFill>
                  <a:srgbClr val="16263D"/>
                </a:solidFill>
                <a:latin typeface="Calibri" pitchFamily="34" charset="0"/>
                <a:ea typeface="Calibri" pitchFamily="34" charset="-122"/>
                <a:cs typeface="Calibri" pitchFamily="34" charset="-120"/>
              </a:rPr>
              <a:t>The index moves, and students cannot see it</a:t>
            </a:r>
            <a:endParaRPr lang="en-US" sz="2800" dirty="0"/>
          </a:p>
        </p:txBody>
      </p:sp>
      <p:sp>
        <p:nvSpPr>
          <p:cNvPr id="8" name="Shape 6"/>
          <p:cNvSpPr/>
          <p:nvPr/>
        </p:nvSpPr>
        <p:spPr>
          <a:xfrm>
            <a:off x="548640" y="1554480"/>
            <a:ext cx="3611880" cy="3063240"/>
          </a:xfrm>
          <a:prstGeom prst="rect">
            <a:avLst/>
          </a:prstGeom>
          <a:solidFill>
            <a:srgbClr val="FFFFFF"/>
          </a:solidFill>
          <a:ln w="12700">
            <a:solidFill>
              <a:srgbClr val="C9C0B2"/>
            </a:solidFill>
            <a:prstDash val="solid"/>
          </a:ln>
        </p:spPr>
      </p:sp>
      <p:sp>
        <p:nvSpPr>
          <p:cNvPr id="9" name="Text 7"/>
          <p:cNvSpPr/>
          <p:nvPr/>
        </p:nvSpPr>
        <p:spPr>
          <a:xfrm>
            <a:off x="749808" y="1719072"/>
            <a:ext cx="3200400" cy="384048"/>
          </a:xfrm>
          <a:prstGeom prst="rect">
            <a:avLst/>
          </a:prstGeom>
          <a:noFill/>
          <a:ln/>
        </p:spPr>
        <p:txBody>
          <a:bodyPr wrap="square" lIns="0" tIns="0" rIns="0" bIns="0" rtlCol="0" anchor="ctr"/>
          <a:lstStyle/>
          <a:p>
            <a:pPr indent="0" marL="0">
              <a:buNone/>
            </a:pPr>
            <a:r>
              <a:rPr lang="en-US" sz="2000" b="1" dirty="0">
                <a:solidFill>
                  <a:srgbClr val="E8624D"/>
                </a:solidFill>
                <a:latin typeface="Calibri" pitchFamily="34" charset="0"/>
                <a:ea typeface="Calibri" pitchFamily="34" charset="-122"/>
                <a:cs typeface="Calibri" pitchFamily="34" charset="-120"/>
              </a:rPr>
              <a:t>01</a:t>
            </a:r>
            <a:endParaRPr lang="en-US" sz="2000" dirty="0"/>
          </a:p>
        </p:txBody>
      </p:sp>
      <p:sp>
        <p:nvSpPr>
          <p:cNvPr id="10" name="Text 8"/>
          <p:cNvSpPr/>
          <p:nvPr/>
        </p:nvSpPr>
        <p:spPr>
          <a:xfrm>
            <a:off x="749808" y="2194560"/>
            <a:ext cx="3200400" cy="640080"/>
          </a:xfrm>
          <a:prstGeom prst="rect">
            <a:avLst/>
          </a:prstGeom>
          <a:noFill/>
          <a:ln/>
        </p:spPr>
        <p:txBody>
          <a:bodyPr wrap="square" lIns="0" tIns="0" rIns="0" bIns="0" rtlCol="0" anchor="ctr"/>
          <a:lstStyle/>
          <a:p>
            <a:pPr indent="0" marL="0">
              <a:buNone/>
            </a:pPr>
            <a:r>
              <a:rPr lang="en-US" sz="2200" b="1" dirty="0">
                <a:solidFill>
                  <a:srgbClr val="16263D"/>
                </a:solidFill>
                <a:latin typeface="Calibri" pitchFamily="34" charset="0"/>
                <a:ea typeface="Calibri" pitchFamily="34" charset="-122"/>
                <a:cs typeface="Calibri" pitchFamily="34" charset="-120"/>
              </a:rPr>
              <a:t>A finished diagram</a:t>
            </a:r>
            <a:endParaRPr lang="en-US" sz="2200" dirty="0"/>
          </a:p>
        </p:txBody>
      </p:sp>
      <p:sp>
        <p:nvSpPr>
          <p:cNvPr id="11" name="Text 9"/>
          <p:cNvSpPr/>
          <p:nvPr/>
        </p:nvSpPr>
        <p:spPr>
          <a:xfrm>
            <a:off x="749808" y="2926080"/>
            <a:ext cx="3200400" cy="1371600"/>
          </a:xfrm>
          <a:prstGeom prst="rect">
            <a:avLst/>
          </a:prstGeom>
          <a:noFill/>
          <a:ln/>
        </p:spPr>
        <p:txBody>
          <a:bodyPr wrap="square" lIns="0" tIns="0" rIns="0" bIns="0" rtlCol="0" anchor="ctr"/>
          <a:lstStyle/>
          <a:p>
            <a:pPr indent="0" marL="0">
              <a:buNone/>
            </a:pPr>
            <a:r>
              <a:rPr lang="en-US" sz="1500" dirty="0">
                <a:solidFill>
                  <a:srgbClr val="16263D"/>
                </a:solidFill>
                <a:latin typeface="Calibri" pitchFamily="34" charset="0"/>
                <a:ea typeface="Calibri" pitchFamily="34" charset="-122"/>
                <a:cs typeface="Calibri" pitchFamily="34" charset="-120"/>
              </a:rPr>
              <a:t>A slide that shows the whole row lets students copy TOP, REAR or NEXT without knowing which cell changed.</a:t>
            </a:r>
            <a:endParaRPr lang="en-US" sz="1500" dirty="0"/>
          </a:p>
        </p:txBody>
      </p:sp>
      <p:sp>
        <p:nvSpPr>
          <p:cNvPr id="12" name="Shape 10"/>
          <p:cNvSpPr/>
          <p:nvPr/>
        </p:nvSpPr>
        <p:spPr>
          <a:xfrm>
            <a:off x="4343400" y="1554480"/>
            <a:ext cx="3611880" cy="3063240"/>
          </a:xfrm>
          <a:prstGeom prst="rect">
            <a:avLst/>
          </a:prstGeom>
          <a:solidFill>
            <a:srgbClr val="FFFFFF"/>
          </a:solidFill>
          <a:ln w="12700">
            <a:solidFill>
              <a:srgbClr val="C9C0B2"/>
            </a:solidFill>
            <a:prstDash val="solid"/>
          </a:ln>
        </p:spPr>
      </p:sp>
      <p:sp>
        <p:nvSpPr>
          <p:cNvPr id="13" name="Text 11"/>
          <p:cNvSpPr/>
          <p:nvPr/>
        </p:nvSpPr>
        <p:spPr>
          <a:xfrm>
            <a:off x="4544568" y="1719072"/>
            <a:ext cx="3200400" cy="384048"/>
          </a:xfrm>
          <a:prstGeom prst="rect">
            <a:avLst/>
          </a:prstGeom>
          <a:noFill/>
          <a:ln/>
        </p:spPr>
        <p:txBody>
          <a:bodyPr wrap="square" lIns="0" tIns="0" rIns="0" bIns="0" rtlCol="0" anchor="ctr"/>
          <a:lstStyle/>
          <a:p>
            <a:pPr indent="0" marL="0">
              <a:buNone/>
            </a:pPr>
            <a:r>
              <a:rPr lang="en-US" sz="2000" b="1" dirty="0">
                <a:solidFill>
                  <a:srgbClr val="E8624D"/>
                </a:solidFill>
                <a:latin typeface="Calibri" pitchFamily="34" charset="0"/>
                <a:ea typeface="Calibri" pitchFamily="34" charset="-122"/>
                <a:cs typeface="Calibri" pitchFamily="34" charset="-120"/>
              </a:rPr>
              <a:t>02</a:t>
            </a:r>
            <a:endParaRPr lang="en-US" sz="2000" dirty="0"/>
          </a:p>
        </p:txBody>
      </p:sp>
      <p:sp>
        <p:nvSpPr>
          <p:cNvPr id="14" name="Text 12"/>
          <p:cNvSpPr/>
          <p:nvPr/>
        </p:nvSpPr>
        <p:spPr>
          <a:xfrm>
            <a:off x="4544568" y="2194560"/>
            <a:ext cx="3200400" cy="640080"/>
          </a:xfrm>
          <a:prstGeom prst="rect">
            <a:avLst/>
          </a:prstGeom>
          <a:noFill/>
          <a:ln/>
        </p:spPr>
        <p:txBody>
          <a:bodyPr wrap="square" lIns="0" tIns="0" rIns="0" bIns="0" rtlCol="0" anchor="ctr"/>
          <a:lstStyle/>
          <a:p>
            <a:pPr indent="0" marL="0">
              <a:buNone/>
            </a:pPr>
            <a:r>
              <a:rPr lang="en-US" sz="2200" b="1" dirty="0">
                <a:solidFill>
                  <a:srgbClr val="16263D"/>
                </a:solidFill>
                <a:latin typeface="Calibri" pitchFamily="34" charset="0"/>
                <a:ea typeface="Calibri" pitchFamily="34" charset="-122"/>
                <a:cs typeface="Calibri" pitchFamily="34" charset="-120"/>
              </a:rPr>
              <a:t>One change</a:t>
            </a:r>
            <a:endParaRPr lang="en-US" sz="2200" dirty="0"/>
          </a:p>
        </p:txBody>
      </p:sp>
      <p:sp>
        <p:nvSpPr>
          <p:cNvPr id="15" name="Text 13"/>
          <p:cNvSpPr/>
          <p:nvPr/>
        </p:nvSpPr>
        <p:spPr>
          <a:xfrm>
            <a:off x="4544568" y="2926080"/>
            <a:ext cx="3200400" cy="1371600"/>
          </a:xfrm>
          <a:prstGeom prst="rect">
            <a:avLst/>
          </a:prstGeom>
          <a:noFill/>
          <a:ln/>
        </p:spPr>
        <p:txBody>
          <a:bodyPr wrap="square" lIns="0" tIns="0" rIns="0" bIns="0" rtlCol="0" anchor="ctr"/>
          <a:lstStyle/>
          <a:p>
            <a:pPr indent="0" marL="0">
              <a:buNone/>
            </a:pPr>
            <a:r>
              <a:rPr lang="en-US" sz="1500" dirty="0">
                <a:solidFill>
                  <a:srgbClr val="16263D"/>
                </a:solidFill>
                <a:latin typeface="Calibri" pitchFamily="34" charset="0"/>
                <a:ea typeface="Calibri" pitchFamily="34" charset="-122"/>
                <a:cs typeface="Calibri" pitchFamily="34" charset="-120"/>
              </a:rPr>
              <a:t>The page turns one pointer, or one cell, amber. The next change stays hidden.</a:t>
            </a:r>
            <a:endParaRPr lang="en-US" sz="1500" dirty="0"/>
          </a:p>
        </p:txBody>
      </p:sp>
      <p:sp>
        <p:nvSpPr>
          <p:cNvPr id="16" name="Shape 14"/>
          <p:cNvSpPr/>
          <p:nvPr/>
        </p:nvSpPr>
        <p:spPr>
          <a:xfrm>
            <a:off x="8138160" y="1554480"/>
            <a:ext cx="3611880" cy="3063240"/>
          </a:xfrm>
          <a:prstGeom prst="rect">
            <a:avLst/>
          </a:prstGeom>
          <a:solidFill>
            <a:srgbClr val="FFFFFF"/>
          </a:solidFill>
          <a:ln w="12700">
            <a:solidFill>
              <a:srgbClr val="C9C0B2"/>
            </a:solidFill>
            <a:prstDash val="solid"/>
          </a:ln>
        </p:spPr>
      </p:sp>
      <p:sp>
        <p:nvSpPr>
          <p:cNvPr id="17" name="Text 15"/>
          <p:cNvSpPr/>
          <p:nvPr/>
        </p:nvSpPr>
        <p:spPr>
          <a:xfrm>
            <a:off x="8339328" y="1719072"/>
            <a:ext cx="3200400" cy="384048"/>
          </a:xfrm>
          <a:prstGeom prst="rect">
            <a:avLst/>
          </a:prstGeom>
          <a:noFill/>
          <a:ln/>
        </p:spPr>
        <p:txBody>
          <a:bodyPr wrap="square" lIns="0" tIns="0" rIns="0" bIns="0" rtlCol="0" anchor="ctr"/>
          <a:lstStyle/>
          <a:p>
            <a:pPr indent="0" marL="0">
              <a:buNone/>
            </a:pPr>
            <a:r>
              <a:rPr lang="en-US" sz="2000" b="1" dirty="0">
                <a:solidFill>
                  <a:srgbClr val="E8624D"/>
                </a:solidFill>
                <a:latin typeface="Calibri" pitchFamily="34" charset="0"/>
                <a:ea typeface="Calibri" pitchFamily="34" charset="-122"/>
                <a:cs typeface="Calibri" pitchFamily="34" charset="-120"/>
              </a:rPr>
              <a:t>03</a:t>
            </a:r>
            <a:endParaRPr lang="en-US" sz="2000" dirty="0"/>
          </a:p>
        </p:txBody>
      </p:sp>
      <p:sp>
        <p:nvSpPr>
          <p:cNvPr id="18" name="Text 16"/>
          <p:cNvSpPr/>
          <p:nvPr/>
        </p:nvSpPr>
        <p:spPr>
          <a:xfrm>
            <a:off x="8339328" y="2194560"/>
            <a:ext cx="3200400" cy="640080"/>
          </a:xfrm>
          <a:prstGeom prst="rect">
            <a:avLst/>
          </a:prstGeom>
          <a:noFill/>
          <a:ln/>
        </p:spPr>
        <p:txBody>
          <a:bodyPr wrap="square" lIns="0" tIns="0" rIns="0" bIns="0" rtlCol="0" anchor="ctr"/>
          <a:lstStyle/>
          <a:p>
            <a:pPr indent="0" marL="0">
              <a:buNone/>
            </a:pPr>
            <a:r>
              <a:rPr lang="en-US" sz="2200" b="1" dirty="0">
                <a:solidFill>
                  <a:srgbClr val="16263D"/>
                </a:solidFill>
                <a:latin typeface="Calibri" pitchFamily="34" charset="0"/>
                <a:ea typeface="Calibri" pitchFamily="34" charset="-122"/>
                <a:cs typeface="Calibri" pitchFamily="34" charset="-120"/>
              </a:rPr>
              <a:t>Write first</a:t>
            </a:r>
            <a:endParaRPr lang="en-US" sz="2200" dirty="0"/>
          </a:p>
        </p:txBody>
      </p:sp>
      <p:sp>
        <p:nvSpPr>
          <p:cNvPr id="19" name="Text 17"/>
          <p:cNvSpPr/>
          <p:nvPr/>
        </p:nvSpPr>
        <p:spPr>
          <a:xfrm>
            <a:off x="8339328" y="2926080"/>
            <a:ext cx="3200400" cy="1371600"/>
          </a:xfrm>
          <a:prstGeom prst="rect">
            <a:avLst/>
          </a:prstGeom>
          <a:noFill/>
          <a:ln/>
        </p:spPr>
        <p:txBody>
          <a:bodyPr wrap="square" lIns="0" tIns="0" rIns="0" bIns="0" rtlCol="0" anchor="ctr"/>
          <a:lstStyle/>
          <a:p>
            <a:pPr indent="0" marL="0">
              <a:buNone/>
            </a:pPr>
            <a:r>
              <a:rPr lang="en-US" sz="1500" dirty="0">
                <a:solidFill>
                  <a:srgbClr val="16263D"/>
                </a:solidFill>
                <a:latin typeface="Calibri" pitchFamily="34" charset="0"/>
                <a:ea typeface="Calibri" pitchFamily="34" charset="-122"/>
                <a:cs typeface="Calibri" pitchFamily="34" charset="-120"/>
              </a:rPr>
              <a:t>Students write that cell on the worksheet. Then the teacher presses Next.</a:t>
            </a:r>
            <a:endParaRPr lang="en-US" sz="1500" dirty="0"/>
          </a:p>
        </p:txBody>
      </p:sp>
      <p:sp>
        <p:nvSpPr>
          <p:cNvPr id="20" name="Text 18"/>
          <p:cNvSpPr/>
          <p:nvPr/>
        </p:nvSpPr>
        <p:spPr>
          <a:xfrm>
            <a:off x="548640" y="4800600"/>
            <a:ext cx="11064240" cy="365760"/>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Same three values on the lesson plan, the worksheet and the page:  15,  28,  41.</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EFE6"/>
        </a:solidFill>
      </p:bgPr>
    </p:bg>
    <p:spTree>
      <p:nvGrpSpPr>
        <p:cNvPr id="1" name=""/>
        <p:cNvGrpSpPr/>
        <p:nvPr/>
      </p:nvGrpSpPr>
      <p:grpSpPr>
        <a:xfrm>
          <a:off x="0" y="0"/>
          <a:ext cx="0" cy="0"/>
          <a:chOff x="0" y="0"/>
          <a:chExt cx="0" cy="0"/>
        </a:xfrm>
      </p:grpSpPr>
      <p:sp>
        <p:nvSpPr>
          <p:cNvPr id="2" name="Text 0"/>
          <p:cNvSpPr/>
          <p:nvPr/>
        </p:nvSpPr>
        <p:spPr>
          <a:xfrm>
            <a:off x="548640" y="347472"/>
            <a:ext cx="8412480" cy="292608"/>
          </a:xfrm>
          <a:prstGeom prst="rect">
            <a:avLst/>
          </a:prstGeom>
          <a:noFill/>
          <a:ln/>
        </p:spPr>
        <p:txBody>
          <a:bodyPr wrap="square" lIns="0" tIns="0" rIns="0" bIns="0" rtlCol="0" anchor="ctr"/>
          <a:lstStyle/>
          <a:p>
            <a:pPr indent="0" marL="0">
              <a:buNone/>
            </a:pPr>
            <a:r>
              <a:rPr lang="en-US" sz="1200" spc="220" kern="0" dirty="0">
                <a:solidFill>
                  <a:srgbClr val="5C6470"/>
                </a:solidFill>
                <a:latin typeface="Calibri" pitchFamily="34" charset="0"/>
                <a:ea typeface="Calibri" pitchFamily="34" charset="-122"/>
                <a:cs typeface="Calibri" pitchFamily="34" charset="-120"/>
              </a:rPr>
              <a:t>03    ·    MEMBER A    ·    OBJECTIVES</a:t>
            </a:r>
            <a:endParaRPr lang="en-US" sz="1200" dirty="0"/>
          </a:p>
        </p:txBody>
      </p:sp>
      <p:sp>
        <p:nvSpPr>
          <p:cNvPr id="3" name="Text 1"/>
          <p:cNvSpPr/>
          <p:nvPr/>
        </p:nvSpPr>
        <p:spPr>
          <a:xfrm>
            <a:off x="10271455" y="347472"/>
            <a:ext cx="1371600" cy="292608"/>
          </a:xfrm>
          <a:prstGeom prst="rect">
            <a:avLst/>
          </a:prstGeom>
          <a:noFill/>
          <a:ln/>
        </p:spPr>
        <p:txBody>
          <a:bodyPr wrap="square" lIns="0" tIns="0" rIns="0" bIns="0" rtlCol="0" anchor="ctr"/>
          <a:lstStyle/>
          <a:p>
            <a:pPr algn="r" indent="0" marL="0">
              <a:buNone/>
            </a:pPr>
            <a:r>
              <a:rPr lang="en-US" sz="1200" dirty="0">
                <a:solidFill>
                  <a:srgbClr val="5C6470"/>
                </a:solidFill>
                <a:latin typeface="Calibri" pitchFamily="34" charset="0"/>
                <a:ea typeface="Calibri" pitchFamily="34" charset="-122"/>
                <a:cs typeface="Calibri" pitchFamily="34" charset="-120"/>
              </a:rPr>
              <a:t>03  /  11</a:t>
            </a:r>
            <a:endParaRPr lang="en-US" sz="1200" dirty="0"/>
          </a:p>
        </p:txBody>
      </p:sp>
      <p:sp>
        <p:nvSpPr>
          <p:cNvPr id="4" name="Shape 2"/>
          <p:cNvSpPr/>
          <p:nvPr/>
        </p:nvSpPr>
        <p:spPr>
          <a:xfrm>
            <a:off x="548640" y="6355080"/>
            <a:ext cx="11094415" cy="0"/>
          </a:xfrm>
          <a:prstGeom prst="line">
            <a:avLst/>
          </a:prstGeom>
          <a:noFill/>
          <a:ln w="9525">
            <a:solidFill>
              <a:srgbClr val="C9C0B2"/>
            </a:solidFill>
            <a:prstDash val="solid"/>
          </a:ln>
        </p:spPr>
      </p:sp>
      <p:sp>
        <p:nvSpPr>
          <p:cNvPr id="5" name="Text 3"/>
          <p:cNvSpPr/>
          <p:nvPr/>
        </p:nvSpPr>
        <p:spPr>
          <a:xfrm>
            <a:off x="548640" y="6473952"/>
            <a:ext cx="5669280" cy="256032"/>
          </a:xfrm>
          <a:prstGeom prst="rect">
            <a:avLst/>
          </a:prstGeom>
          <a:noFill/>
          <a:ln/>
        </p:spPr>
        <p:txBody>
          <a:bodyPr wrap="square" lIns="0" tIns="0" rIns="0" bIns="0" rtlCol="0" anchor="ctr"/>
          <a:lstStyle/>
          <a:p>
            <a:pPr indent="0" marL="0">
              <a:buNone/>
            </a:pPr>
            <a:r>
              <a:rPr lang="en-US" sz="1100" dirty="0">
                <a:solidFill>
                  <a:srgbClr val="5C6470"/>
                </a:solidFill>
                <a:latin typeface="Calibri" pitchFamily="34" charset="0"/>
                <a:ea typeface="Calibri" pitchFamily="34" charset="-122"/>
                <a:cs typeface="Calibri" pitchFamily="34" charset="-120"/>
              </a:rPr>
              <a:t>INT2065  ·  GROUP PROJECT</a:t>
            </a:r>
            <a:endParaRPr lang="en-US" sz="1100" dirty="0"/>
          </a:p>
        </p:txBody>
      </p:sp>
      <p:sp>
        <p:nvSpPr>
          <p:cNvPr id="6" name="Text 4"/>
          <p:cNvSpPr/>
          <p:nvPr/>
        </p:nvSpPr>
        <p:spPr>
          <a:xfrm>
            <a:off x="5973775" y="6473952"/>
            <a:ext cx="5669280" cy="256032"/>
          </a:xfrm>
          <a:prstGeom prst="rect">
            <a:avLst/>
          </a:prstGeom>
          <a:noFill/>
          <a:ln/>
        </p:spPr>
        <p:txBody>
          <a:bodyPr wrap="square" lIns="0" tIns="0" rIns="0" bIns="0" rtlCol="0" anchor="ctr"/>
          <a:lstStyle/>
          <a:p>
            <a:pPr algn="r" indent="0" marL="0">
              <a:buNone/>
            </a:pPr>
            <a:r>
              <a:rPr lang="en-US" sz="1100" dirty="0">
                <a:solidFill>
                  <a:srgbClr val="5C6470"/>
                </a:solidFill>
                <a:latin typeface="Calibri" pitchFamily="34" charset="0"/>
                <a:ea typeface="Calibri" pitchFamily="34" charset="-122"/>
                <a:cs typeface="Calibri" pitchFamily="34" charset="-120"/>
              </a:rPr>
              <a:t>ELECTIVE OPTION C</a:t>
            </a:r>
            <a:endParaRPr lang="en-US" sz="1100" dirty="0"/>
          </a:p>
        </p:txBody>
      </p:sp>
      <p:sp>
        <p:nvSpPr>
          <p:cNvPr id="7" name="Text 5"/>
          <p:cNvSpPr/>
          <p:nvPr/>
        </p:nvSpPr>
        <p:spPr>
          <a:xfrm>
            <a:off x="548640" y="713232"/>
            <a:ext cx="11064240" cy="475488"/>
          </a:xfrm>
          <a:prstGeom prst="rect">
            <a:avLst/>
          </a:prstGeom>
          <a:noFill/>
          <a:ln/>
        </p:spPr>
        <p:txBody>
          <a:bodyPr wrap="square" lIns="0" tIns="0" rIns="0" bIns="0" rtlCol="0" anchor="ctr"/>
          <a:lstStyle/>
          <a:p>
            <a:pPr indent="0" marL="0">
              <a:buNone/>
            </a:pPr>
            <a:r>
              <a:rPr lang="en-US" sz="2800" b="1" dirty="0">
                <a:solidFill>
                  <a:srgbClr val="16263D"/>
                </a:solidFill>
                <a:latin typeface="Calibri" pitchFamily="34" charset="0"/>
                <a:ea typeface="Calibri" pitchFamily="34" charset="-122"/>
                <a:cs typeface="Calibri" pitchFamily="34" charset="-120"/>
              </a:rPr>
              <a:t>What students can do after this lesson</a:t>
            </a:r>
            <a:endParaRPr lang="en-US" sz="2800" dirty="0"/>
          </a:p>
        </p:txBody>
      </p:sp>
      <p:sp>
        <p:nvSpPr>
          <p:cNvPr id="8" name="Shape 6"/>
          <p:cNvSpPr/>
          <p:nvPr/>
        </p:nvSpPr>
        <p:spPr>
          <a:xfrm>
            <a:off x="594360" y="1472184"/>
            <a:ext cx="384048" cy="384048"/>
          </a:xfrm>
          <a:prstGeom prst="ellipse">
            <a:avLst/>
          </a:prstGeom>
          <a:solidFill>
            <a:srgbClr val="0F1B2D"/>
          </a:solidFill>
          <a:ln/>
        </p:spPr>
      </p:sp>
      <p:sp>
        <p:nvSpPr>
          <p:cNvPr id="9" name="Text 7"/>
          <p:cNvSpPr/>
          <p:nvPr/>
        </p:nvSpPr>
        <p:spPr>
          <a:xfrm>
            <a:off x="594360" y="1508760"/>
            <a:ext cx="384048" cy="329184"/>
          </a:xfrm>
          <a:prstGeom prst="rect">
            <a:avLst/>
          </a:prstGeom>
          <a:noFill/>
          <a:ln/>
        </p:spPr>
        <p:txBody>
          <a:bodyPr wrap="square" lIns="0" tIns="0" rIns="0" bIns="0" rtlCol="0" anchor="ctr"/>
          <a:lstStyle/>
          <a:p>
            <a:pPr algn="ctr" indent="0" marL="0">
              <a:buNone/>
            </a:pPr>
            <a:r>
              <a:rPr lang="en-US" sz="1400" b="1" dirty="0">
                <a:solidFill>
                  <a:srgbClr val="F4EFE6"/>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1188720" y="1417320"/>
            <a:ext cx="10332720" cy="502920"/>
          </a:xfrm>
          <a:prstGeom prst="rect">
            <a:avLst/>
          </a:prstGeom>
          <a:noFill/>
          <a:ln/>
        </p:spPr>
        <p:txBody>
          <a:bodyPr wrap="square" lIns="0" tIns="0" rIns="0" bIns="0" rtlCol="0" anchor="ctr"/>
          <a:lstStyle/>
          <a:p>
            <a:pPr indent="0" marL="0">
              <a:buNone/>
            </a:pPr>
            <a:r>
              <a:rPr lang="en-US" sz="1800" dirty="0">
                <a:solidFill>
                  <a:srgbClr val="16263D"/>
                </a:solidFill>
                <a:latin typeface="Calibri" pitchFamily="34" charset="0"/>
                <a:ea typeface="Calibri" pitchFamily="34" charset="-122"/>
                <a:cs typeface="Calibri" pitchFamily="34" charset="-120"/>
              </a:rPr>
              <a:t>State that a stack, a queue and a linear linked list can be stored in arrays.</a:t>
            </a:r>
            <a:endParaRPr lang="en-US" sz="1800" dirty="0"/>
          </a:p>
        </p:txBody>
      </p:sp>
      <p:sp>
        <p:nvSpPr>
          <p:cNvPr id="11" name="Shape 9"/>
          <p:cNvSpPr/>
          <p:nvPr/>
        </p:nvSpPr>
        <p:spPr>
          <a:xfrm>
            <a:off x="594360" y="2130552"/>
            <a:ext cx="384048" cy="384048"/>
          </a:xfrm>
          <a:prstGeom prst="ellipse">
            <a:avLst/>
          </a:prstGeom>
          <a:solidFill>
            <a:srgbClr val="0F1B2D"/>
          </a:solidFill>
          <a:ln/>
        </p:spPr>
      </p:sp>
      <p:sp>
        <p:nvSpPr>
          <p:cNvPr id="12" name="Text 10"/>
          <p:cNvSpPr/>
          <p:nvPr/>
        </p:nvSpPr>
        <p:spPr>
          <a:xfrm>
            <a:off x="594360" y="2167128"/>
            <a:ext cx="384048" cy="329184"/>
          </a:xfrm>
          <a:prstGeom prst="rect">
            <a:avLst/>
          </a:prstGeom>
          <a:noFill/>
          <a:ln/>
        </p:spPr>
        <p:txBody>
          <a:bodyPr wrap="square" lIns="0" tIns="0" rIns="0" bIns="0" rtlCol="0" anchor="ctr"/>
          <a:lstStyle/>
          <a:p>
            <a:pPr algn="ctr" indent="0" marL="0">
              <a:buNone/>
            </a:pPr>
            <a:r>
              <a:rPr lang="en-US" sz="1400" b="1" dirty="0">
                <a:solidFill>
                  <a:srgbClr val="F4EFE6"/>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188720" y="2075688"/>
            <a:ext cx="10332720" cy="502920"/>
          </a:xfrm>
          <a:prstGeom prst="rect">
            <a:avLst/>
          </a:prstGeom>
          <a:noFill/>
          <a:ln/>
        </p:spPr>
        <p:txBody>
          <a:bodyPr wrap="square" lIns="0" tIns="0" rIns="0" bIns="0" rtlCol="0" anchor="ctr"/>
          <a:lstStyle/>
          <a:p>
            <a:pPr indent="0" marL="0">
              <a:buNone/>
            </a:pPr>
            <a:r>
              <a:rPr lang="en-US" sz="1800" dirty="0">
                <a:solidFill>
                  <a:srgbClr val="16263D"/>
                </a:solidFill>
                <a:latin typeface="Calibri" pitchFamily="34" charset="0"/>
                <a:ea typeface="Calibri" pitchFamily="34" charset="-122"/>
                <a:cs typeface="Calibri" pitchFamily="34" charset="-120"/>
              </a:rPr>
              <a:t>Trace three pushes and write the new value of TOP.</a:t>
            </a:r>
            <a:endParaRPr lang="en-US" sz="1800" dirty="0"/>
          </a:p>
        </p:txBody>
      </p:sp>
      <p:sp>
        <p:nvSpPr>
          <p:cNvPr id="14" name="Shape 12"/>
          <p:cNvSpPr/>
          <p:nvPr/>
        </p:nvSpPr>
        <p:spPr>
          <a:xfrm>
            <a:off x="594360" y="2788920"/>
            <a:ext cx="384048" cy="384048"/>
          </a:xfrm>
          <a:prstGeom prst="ellipse">
            <a:avLst/>
          </a:prstGeom>
          <a:solidFill>
            <a:srgbClr val="0F1B2D"/>
          </a:solidFill>
          <a:ln/>
        </p:spPr>
      </p:sp>
      <p:sp>
        <p:nvSpPr>
          <p:cNvPr id="15" name="Text 13"/>
          <p:cNvSpPr/>
          <p:nvPr/>
        </p:nvSpPr>
        <p:spPr>
          <a:xfrm>
            <a:off x="594360" y="2825496"/>
            <a:ext cx="384048" cy="329184"/>
          </a:xfrm>
          <a:prstGeom prst="rect">
            <a:avLst/>
          </a:prstGeom>
          <a:noFill/>
          <a:ln/>
        </p:spPr>
        <p:txBody>
          <a:bodyPr wrap="square" lIns="0" tIns="0" rIns="0" bIns="0" rtlCol="0" anchor="ctr"/>
          <a:lstStyle/>
          <a:p>
            <a:pPr algn="ctr" indent="0" marL="0">
              <a:buNone/>
            </a:pPr>
            <a:r>
              <a:rPr lang="en-US" sz="1400" b="1" dirty="0">
                <a:solidFill>
                  <a:srgbClr val="F4EFE6"/>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1188720" y="2734056"/>
            <a:ext cx="10332720" cy="502920"/>
          </a:xfrm>
          <a:prstGeom prst="rect">
            <a:avLst/>
          </a:prstGeom>
          <a:noFill/>
          <a:ln/>
        </p:spPr>
        <p:txBody>
          <a:bodyPr wrap="square" lIns="0" tIns="0" rIns="0" bIns="0" rtlCol="0" anchor="ctr"/>
          <a:lstStyle/>
          <a:p>
            <a:pPr indent="0" marL="0">
              <a:buNone/>
            </a:pPr>
            <a:r>
              <a:rPr lang="en-US" sz="1800" dirty="0">
                <a:solidFill>
                  <a:srgbClr val="16263D"/>
                </a:solidFill>
                <a:latin typeface="Calibri" pitchFamily="34" charset="0"/>
                <a:ea typeface="Calibri" pitchFamily="34" charset="-122"/>
                <a:cs typeface="Calibri" pitchFamily="34" charset="-120"/>
              </a:rPr>
              <a:t>Trace three enqueues and write FRONT and REAR.</a:t>
            </a:r>
            <a:endParaRPr lang="en-US" sz="1800" dirty="0"/>
          </a:p>
        </p:txBody>
      </p:sp>
      <p:sp>
        <p:nvSpPr>
          <p:cNvPr id="17" name="Shape 15"/>
          <p:cNvSpPr/>
          <p:nvPr/>
        </p:nvSpPr>
        <p:spPr>
          <a:xfrm>
            <a:off x="594360" y="3447288"/>
            <a:ext cx="384048" cy="384048"/>
          </a:xfrm>
          <a:prstGeom prst="ellipse">
            <a:avLst/>
          </a:prstGeom>
          <a:solidFill>
            <a:srgbClr val="0F1B2D"/>
          </a:solidFill>
          <a:ln/>
        </p:spPr>
      </p:sp>
      <p:sp>
        <p:nvSpPr>
          <p:cNvPr id="18" name="Text 16"/>
          <p:cNvSpPr/>
          <p:nvPr/>
        </p:nvSpPr>
        <p:spPr>
          <a:xfrm>
            <a:off x="594360" y="3483864"/>
            <a:ext cx="384048" cy="329184"/>
          </a:xfrm>
          <a:prstGeom prst="rect">
            <a:avLst/>
          </a:prstGeom>
          <a:noFill/>
          <a:ln/>
        </p:spPr>
        <p:txBody>
          <a:bodyPr wrap="square" lIns="0" tIns="0" rIns="0" bIns="0" rtlCol="0" anchor="ctr"/>
          <a:lstStyle/>
          <a:p>
            <a:pPr algn="ctr" indent="0" marL="0">
              <a:buNone/>
            </a:pPr>
            <a:r>
              <a:rPr lang="en-US" sz="1400" b="1" dirty="0">
                <a:solidFill>
                  <a:srgbClr val="F4EFE6"/>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1188720" y="3392424"/>
            <a:ext cx="10332720" cy="502920"/>
          </a:xfrm>
          <a:prstGeom prst="rect">
            <a:avLst/>
          </a:prstGeom>
          <a:noFill/>
          <a:ln/>
        </p:spPr>
        <p:txBody>
          <a:bodyPr wrap="square" lIns="0" tIns="0" rIns="0" bIns="0" rtlCol="0" anchor="ctr"/>
          <a:lstStyle/>
          <a:p>
            <a:pPr indent="0" marL="0">
              <a:buNone/>
            </a:pPr>
            <a:r>
              <a:rPr lang="en-US" sz="1800" dirty="0">
                <a:solidFill>
                  <a:srgbClr val="16263D"/>
                </a:solidFill>
                <a:latin typeface="Calibri" pitchFamily="34" charset="0"/>
                <a:ea typeface="Calibri" pitchFamily="34" charset="-122"/>
                <a:cs typeface="Calibri" pitchFamily="34" charset="-120"/>
              </a:rPr>
              <a:t>Trace one insert, and write the two NEXT changes in the safe order.</a:t>
            </a:r>
            <a:endParaRPr lang="en-US" sz="1800" dirty="0"/>
          </a:p>
        </p:txBody>
      </p:sp>
      <p:sp>
        <p:nvSpPr>
          <p:cNvPr id="20" name="Shape 18"/>
          <p:cNvSpPr/>
          <p:nvPr/>
        </p:nvSpPr>
        <p:spPr>
          <a:xfrm>
            <a:off x="594360" y="4105656"/>
            <a:ext cx="384048" cy="384048"/>
          </a:xfrm>
          <a:prstGeom prst="ellipse">
            <a:avLst/>
          </a:prstGeom>
          <a:solidFill>
            <a:srgbClr val="0F1B2D"/>
          </a:solidFill>
          <a:ln/>
        </p:spPr>
      </p:sp>
      <p:sp>
        <p:nvSpPr>
          <p:cNvPr id="21" name="Text 19"/>
          <p:cNvSpPr/>
          <p:nvPr/>
        </p:nvSpPr>
        <p:spPr>
          <a:xfrm>
            <a:off x="594360" y="4142232"/>
            <a:ext cx="384048" cy="329184"/>
          </a:xfrm>
          <a:prstGeom prst="rect">
            <a:avLst/>
          </a:prstGeom>
          <a:noFill/>
          <a:ln/>
        </p:spPr>
        <p:txBody>
          <a:bodyPr wrap="square" lIns="0" tIns="0" rIns="0" bIns="0" rtlCol="0" anchor="ctr"/>
          <a:lstStyle/>
          <a:p>
            <a:pPr algn="ctr" indent="0" marL="0">
              <a:buNone/>
            </a:pPr>
            <a:r>
              <a:rPr lang="en-US" sz="1400" b="1" dirty="0">
                <a:solidFill>
                  <a:srgbClr val="F4EFE6"/>
                </a:solidFill>
                <a:latin typeface="Calibri" pitchFamily="34" charset="0"/>
                <a:ea typeface="Calibri" pitchFamily="34" charset="-122"/>
                <a:cs typeface="Calibri" pitchFamily="34" charset="-120"/>
              </a:rPr>
              <a:t>5</a:t>
            </a:r>
            <a:endParaRPr lang="en-US" sz="1400" dirty="0"/>
          </a:p>
        </p:txBody>
      </p:sp>
      <p:sp>
        <p:nvSpPr>
          <p:cNvPr id="22" name="Text 20"/>
          <p:cNvSpPr/>
          <p:nvPr/>
        </p:nvSpPr>
        <p:spPr>
          <a:xfrm>
            <a:off x="1188720" y="4050792"/>
            <a:ext cx="10332720" cy="502920"/>
          </a:xfrm>
          <a:prstGeom prst="rect">
            <a:avLst/>
          </a:prstGeom>
          <a:noFill/>
          <a:ln/>
        </p:spPr>
        <p:txBody>
          <a:bodyPr wrap="square" lIns="0" tIns="0" rIns="0" bIns="0" rtlCol="0" anchor="ctr"/>
          <a:lstStyle/>
          <a:p>
            <a:pPr indent="0" marL="0">
              <a:buNone/>
            </a:pPr>
            <a:r>
              <a:rPr lang="en-US" sz="1800" dirty="0">
                <a:solidFill>
                  <a:srgbClr val="16263D"/>
                </a:solidFill>
                <a:latin typeface="Calibri" pitchFamily="34" charset="0"/>
                <a:ea typeface="Calibri" pitchFamily="34" charset="-122"/>
                <a:cs typeface="Calibri" pitchFamily="34" charset="-120"/>
              </a:rPr>
              <a:t>Say where the new value is written, and which pointer moves.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EFE6"/>
        </a:solidFill>
      </p:bgPr>
    </p:bg>
    <p:spTree>
      <p:nvGrpSpPr>
        <p:cNvPr id="1" name=""/>
        <p:cNvGrpSpPr/>
        <p:nvPr/>
      </p:nvGrpSpPr>
      <p:grpSpPr>
        <a:xfrm>
          <a:off x="0" y="0"/>
          <a:ext cx="0" cy="0"/>
          <a:chOff x="0" y="0"/>
          <a:chExt cx="0" cy="0"/>
        </a:xfrm>
      </p:grpSpPr>
      <p:sp>
        <p:nvSpPr>
          <p:cNvPr id="2" name="Text 0"/>
          <p:cNvSpPr/>
          <p:nvPr/>
        </p:nvSpPr>
        <p:spPr>
          <a:xfrm>
            <a:off x="548640" y="347472"/>
            <a:ext cx="8412480" cy="292608"/>
          </a:xfrm>
          <a:prstGeom prst="rect">
            <a:avLst/>
          </a:prstGeom>
          <a:noFill/>
          <a:ln/>
        </p:spPr>
        <p:txBody>
          <a:bodyPr wrap="square" lIns="0" tIns="0" rIns="0" bIns="0" rtlCol="0" anchor="ctr"/>
          <a:lstStyle/>
          <a:p>
            <a:pPr indent="0" marL="0">
              <a:buNone/>
            </a:pPr>
            <a:r>
              <a:rPr lang="en-US" sz="1200" spc="220" kern="0" dirty="0">
                <a:solidFill>
                  <a:srgbClr val="5C6470"/>
                </a:solidFill>
                <a:latin typeface="Calibri" pitchFamily="34" charset="0"/>
                <a:ea typeface="Calibri" pitchFamily="34" charset="-122"/>
                <a:cs typeface="Calibri" pitchFamily="34" charset="-120"/>
              </a:rPr>
              <a:t>04    ·    MEMBER A    ·    PEDAGOGY</a:t>
            </a:r>
            <a:endParaRPr lang="en-US" sz="1200" dirty="0"/>
          </a:p>
        </p:txBody>
      </p:sp>
      <p:sp>
        <p:nvSpPr>
          <p:cNvPr id="3" name="Text 1"/>
          <p:cNvSpPr/>
          <p:nvPr/>
        </p:nvSpPr>
        <p:spPr>
          <a:xfrm>
            <a:off x="10271455" y="347472"/>
            <a:ext cx="1371600" cy="292608"/>
          </a:xfrm>
          <a:prstGeom prst="rect">
            <a:avLst/>
          </a:prstGeom>
          <a:noFill/>
          <a:ln/>
        </p:spPr>
        <p:txBody>
          <a:bodyPr wrap="square" lIns="0" tIns="0" rIns="0" bIns="0" rtlCol="0" anchor="ctr"/>
          <a:lstStyle/>
          <a:p>
            <a:pPr algn="r" indent="0" marL="0">
              <a:buNone/>
            </a:pPr>
            <a:r>
              <a:rPr lang="en-US" sz="1200" dirty="0">
                <a:solidFill>
                  <a:srgbClr val="5C6470"/>
                </a:solidFill>
                <a:latin typeface="Calibri" pitchFamily="34" charset="0"/>
                <a:ea typeface="Calibri" pitchFamily="34" charset="-122"/>
                <a:cs typeface="Calibri" pitchFamily="34" charset="-120"/>
              </a:rPr>
              <a:t>04  /  11</a:t>
            </a:r>
            <a:endParaRPr lang="en-US" sz="1200" dirty="0"/>
          </a:p>
        </p:txBody>
      </p:sp>
      <p:sp>
        <p:nvSpPr>
          <p:cNvPr id="4" name="Shape 2"/>
          <p:cNvSpPr/>
          <p:nvPr/>
        </p:nvSpPr>
        <p:spPr>
          <a:xfrm>
            <a:off x="548640" y="6355080"/>
            <a:ext cx="11094415" cy="0"/>
          </a:xfrm>
          <a:prstGeom prst="line">
            <a:avLst/>
          </a:prstGeom>
          <a:noFill/>
          <a:ln w="9525">
            <a:solidFill>
              <a:srgbClr val="C9C0B2"/>
            </a:solidFill>
            <a:prstDash val="solid"/>
          </a:ln>
        </p:spPr>
      </p:sp>
      <p:sp>
        <p:nvSpPr>
          <p:cNvPr id="5" name="Text 3"/>
          <p:cNvSpPr/>
          <p:nvPr/>
        </p:nvSpPr>
        <p:spPr>
          <a:xfrm>
            <a:off x="548640" y="6473952"/>
            <a:ext cx="5669280" cy="256032"/>
          </a:xfrm>
          <a:prstGeom prst="rect">
            <a:avLst/>
          </a:prstGeom>
          <a:noFill/>
          <a:ln/>
        </p:spPr>
        <p:txBody>
          <a:bodyPr wrap="square" lIns="0" tIns="0" rIns="0" bIns="0" rtlCol="0" anchor="ctr"/>
          <a:lstStyle/>
          <a:p>
            <a:pPr indent="0" marL="0">
              <a:buNone/>
            </a:pPr>
            <a:r>
              <a:rPr lang="en-US" sz="1100" dirty="0">
                <a:solidFill>
                  <a:srgbClr val="5C6470"/>
                </a:solidFill>
                <a:latin typeface="Calibri" pitchFamily="34" charset="0"/>
                <a:ea typeface="Calibri" pitchFamily="34" charset="-122"/>
                <a:cs typeface="Calibri" pitchFamily="34" charset="-120"/>
              </a:rPr>
              <a:t>INT2065  ·  GROUP PROJECT</a:t>
            </a:r>
            <a:endParaRPr lang="en-US" sz="1100" dirty="0"/>
          </a:p>
        </p:txBody>
      </p:sp>
      <p:sp>
        <p:nvSpPr>
          <p:cNvPr id="6" name="Text 4"/>
          <p:cNvSpPr/>
          <p:nvPr/>
        </p:nvSpPr>
        <p:spPr>
          <a:xfrm>
            <a:off x="5973775" y="6473952"/>
            <a:ext cx="5669280" cy="256032"/>
          </a:xfrm>
          <a:prstGeom prst="rect">
            <a:avLst/>
          </a:prstGeom>
          <a:noFill/>
          <a:ln/>
        </p:spPr>
        <p:txBody>
          <a:bodyPr wrap="square" lIns="0" tIns="0" rIns="0" bIns="0" rtlCol="0" anchor="ctr"/>
          <a:lstStyle/>
          <a:p>
            <a:pPr algn="r" indent="0" marL="0">
              <a:buNone/>
            </a:pPr>
            <a:r>
              <a:rPr lang="en-US" sz="1100" dirty="0">
                <a:solidFill>
                  <a:srgbClr val="5C6470"/>
                </a:solidFill>
                <a:latin typeface="Calibri" pitchFamily="34" charset="0"/>
                <a:ea typeface="Calibri" pitchFamily="34" charset="-122"/>
                <a:cs typeface="Calibri" pitchFamily="34" charset="-120"/>
              </a:rPr>
              <a:t>WRITE, THEN REVEAL</a:t>
            </a:r>
            <a:endParaRPr lang="en-US" sz="1100" dirty="0"/>
          </a:p>
        </p:txBody>
      </p:sp>
      <p:sp>
        <p:nvSpPr>
          <p:cNvPr id="7" name="Text 5"/>
          <p:cNvSpPr/>
          <p:nvPr/>
        </p:nvSpPr>
        <p:spPr>
          <a:xfrm>
            <a:off x="548640" y="713232"/>
            <a:ext cx="11064240" cy="475488"/>
          </a:xfrm>
          <a:prstGeom prst="rect">
            <a:avLst/>
          </a:prstGeom>
          <a:noFill/>
          <a:ln/>
        </p:spPr>
        <p:txBody>
          <a:bodyPr wrap="square" lIns="0" tIns="0" rIns="0" bIns="0" rtlCol="0" anchor="ctr"/>
          <a:lstStyle/>
          <a:p>
            <a:pPr indent="0" marL="0">
              <a:buNone/>
            </a:pPr>
            <a:r>
              <a:rPr lang="en-US" sz="2800" b="1" dirty="0">
                <a:solidFill>
                  <a:srgbClr val="16263D"/>
                </a:solidFill>
                <a:latin typeface="Calibri" pitchFamily="34" charset="0"/>
                <a:ea typeface="Calibri" pitchFamily="34" charset="-122"/>
                <a:cs typeface="Calibri" pitchFamily="34" charset="-120"/>
              </a:rPr>
              <a:t>How the lesson keeps the three structures apart</a:t>
            </a:r>
            <a:endParaRPr lang="en-US" sz="2800" dirty="0"/>
          </a:p>
        </p:txBody>
      </p:sp>
      <p:sp>
        <p:nvSpPr>
          <p:cNvPr id="8" name="Shape 6"/>
          <p:cNvSpPr/>
          <p:nvPr/>
        </p:nvSpPr>
        <p:spPr>
          <a:xfrm>
            <a:off x="548640" y="1508760"/>
            <a:ext cx="5577840" cy="1874520"/>
          </a:xfrm>
          <a:prstGeom prst="rect">
            <a:avLst/>
          </a:prstGeom>
          <a:solidFill>
            <a:srgbClr val="FFFFFF"/>
          </a:solidFill>
          <a:ln w="12700">
            <a:solidFill>
              <a:srgbClr val="C9C0B2"/>
            </a:solidFill>
            <a:prstDash val="solid"/>
          </a:ln>
        </p:spPr>
      </p:sp>
      <p:sp>
        <p:nvSpPr>
          <p:cNvPr id="9" name="Shape 7"/>
          <p:cNvSpPr/>
          <p:nvPr/>
        </p:nvSpPr>
        <p:spPr>
          <a:xfrm>
            <a:off x="548640" y="1508760"/>
            <a:ext cx="91440" cy="1874520"/>
          </a:xfrm>
          <a:prstGeom prst="rect">
            <a:avLst/>
          </a:prstGeom>
          <a:solidFill>
            <a:srgbClr val="0F1B2D"/>
          </a:solidFill>
          <a:ln/>
        </p:spPr>
      </p:sp>
      <p:sp>
        <p:nvSpPr>
          <p:cNvPr id="10" name="Text 8"/>
          <p:cNvSpPr/>
          <p:nvPr/>
        </p:nvSpPr>
        <p:spPr>
          <a:xfrm>
            <a:off x="868680" y="1709928"/>
            <a:ext cx="5029200" cy="384048"/>
          </a:xfrm>
          <a:prstGeom prst="rect">
            <a:avLst/>
          </a:prstGeom>
          <a:noFill/>
          <a:ln/>
        </p:spPr>
        <p:txBody>
          <a:bodyPr wrap="square" lIns="0" tIns="0" rIns="0" bIns="0" rtlCol="0" anchor="ctr"/>
          <a:lstStyle/>
          <a:p>
            <a:pPr indent="0" marL="0">
              <a:buNone/>
            </a:pPr>
            <a:r>
              <a:rPr lang="en-US" sz="2000" b="1" dirty="0">
                <a:solidFill>
                  <a:srgbClr val="16263D"/>
                </a:solidFill>
                <a:latin typeface="Calibri" pitchFamily="34" charset="0"/>
                <a:ea typeface="Calibri" pitchFamily="34" charset="-122"/>
                <a:cs typeface="Calibri" pitchFamily="34" charset="-120"/>
              </a:rPr>
              <a:t>One picture</a:t>
            </a:r>
            <a:endParaRPr lang="en-US" sz="2000" dirty="0"/>
          </a:p>
        </p:txBody>
      </p:sp>
      <p:sp>
        <p:nvSpPr>
          <p:cNvPr id="11" name="Text 9"/>
          <p:cNvSpPr/>
          <p:nvPr/>
        </p:nvSpPr>
        <p:spPr>
          <a:xfrm>
            <a:off x="868680" y="2194560"/>
            <a:ext cx="5029200" cy="960120"/>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All three structures are drawn as an array. Students compare where the new value is written.</a:t>
            </a:r>
            <a:endParaRPr lang="en-US" sz="1600" dirty="0"/>
          </a:p>
        </p:txBody>
      </p:sp>
      <p:sp>
        <p:nvSpPr>
          <p:cNvPr id="12" name="Shape 10"/>
          <p:cNvSpPr/>
          <p:nvPr/>
        </p:nvSpPr>
        <p:spPr>
          <a:xfrm>
            <a:off x="6355080" y="1508760"/>
            <a:ext cx="5577840" cy="1874520"/>
          </a:xfrm>
          <a:prstGeom prst="rect">
            <a:avLst/>
          </a:prstGeom>
          <a:solidFill>
            <a:srgbClr val="FFFFFF"/>
          </a:solidFill>
          <a:ln w="12700">
            <a:solidFill>
              <a:srgbClr val="C9C0B2"/>
            </a:solidFill>
            <a:prstDash val="solid"/>
          </a:ln>
        </p:spPr>
      </p:sp>
      <p:sp>
        <p:nvSpPr>
          <p:cNvPr id="13" name="Shape 11"/>
          <p:cNvSpPr/>
          <p:nvPr/>
        </p:nvSpPr>
        <p:spPr>
          <a:xfrm>
            <a:off x="6355080" y="1508760"/>
            <a:ext cx="91440" cy="1874520"/>
          </a:xfrm>
          <a:prstGeom prst="rect">
            <a:avLst/>
          </a:prstGeom>
          <a:solidFill>
            <a:srgbClr val="0F1B2D"/>
          </a:solidFill>
          <a:ln/>
        </p:spPr>
      </p:sp>
      <p:sp>
        <p:nvSpPr>
          <p:cNvPr id="14" name="Text 12"/>
          <p:cNvSpPr/>
          <p:nvPr/>
        </p:nvSpPr>
        <p:spPr>
          <a:xfrm>
            <a:off x="6675120" y="1709928"/>
            <a:ext cx="5029200" cy="384048"/>
          </a:xfrm>
          <a:prstGeom prst="rect">
            <a:avLst/>
          </a:prstGeom>
          <a:noFill/>
          <a:ln/>
        </p:spPr>
        <p:txBody>
          <a:bodyPr wrap="square" lIns="0" tIns="0" rIns="0" bIns="0" rtlCol="0" anchor="ctr"/>
          <a:lstStyle/>
          <a:p>
            <a:pPr indent="0" marL="0">
              <a:buNone/>
            </a:pPr>
            <a:r>
              <a:rPr lang="en-US" sz="2000" b="1" dirty="0">
                <a:solidFill>
                  <a:srgbClr val="16263D"/>
                </a:solidFill>
                <a:latin typeface="Calibri" pitchFamily="34" charset="0"/>
                <a:ea typeface="Calibri" pitchFamily="34" charset="-122"/>
                <a:cs typeface="Calibri" pitchFamily="34" charset="-120"/>
              </a:rPr>
              <a:t>One operation</a:t>
            </a:r>
            <a:endParaRPr lang="en-US" sz="2000" dirty="0"/>
          </a:p>
        </p:txBody>
      </p:sp>
      <p:sp>
        <p:nvSpPr>
          <p:cNvPr id="15" name="Text 13"/>
          <p:cNvSpPr/>
          <p:nvPr/>
        </p:nvSpPr>
        <p:spPr>
          <a:xfrm>
            <a:off x="6675120" y="2194560"/>
            <a:ext cx="5029200" cy="960120"/>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Today only adds: push, enqueue, and one insert. Removing an item is postponed.</a:t>
            </a:r>
            <a:endParaRPr lang="en-US" sz="1600" dirty="0"/>
          </a:p>
        </p:txBody>
      </p:sp>
      <p:sp>
        <p:nvSpPr>
          <p:cNvPr id="16" name="Shape 14"/>
          <p:cNvSpPr/>
          <p:nvPr/>
        </p:nvSpPr>
        <p:spPr>
          <a:xfrm>
            <a:off x="548640" y="3566160"/>
            <a:ext cx="5577840" cy="1874520"/>
          </a:xfrm>
          <a:prstGeom prst="rect">
            <a:avLst/>
          </a:prstGeom>
          <a:solidFill>
            <a:srgbClr val="FFFFFF"/>
          </a:solidFill>
          <a:ln w="12700">
            <a:solidFill>
              <a:srgbClr val="C9C0B2"/>
            </a:solidFill>
            <a:prstDash val="solid"/>
          </a:ln>
        </p:spPr>
      </p:sp>
      <p:sp>
        <p:nvSpPr>
          <p:cNvPr id="17" name="Shape 15"/>
          <p:cNvSpPr/>
          <p:nvPr/>
        </p:nvSpPr>
        <p:spPr>
          <a:xfrm>
            <a:off x="548640" y="3566160"/>
            <a:ext cx="91440" cy="1874520"/>
          </a:xfrm>
          <a:prstGeom prst="rect">
            <a:avLst/>
          </a:prstGeom>
          <a:solidFill>
            <a:srgbClr val="0F1B2D"/>
          </a:solidFill>
          <a:ln/>
        </p:spPr>
      </p:sp>
      <p:sp>
        <p:nvSpPr>
          <p:cNvPr id="18" name="Text 16"/>
          <p:cNvSpPr/>
          <p:nvPr/>
        </p:nvSpPr>
        <p:spPr>
          <a:xfrm>
            <a:off x="868680" y="3767328"/>
            <a:ext cx="5029200" cy="384048"/>
          </a:xfrm>
          <a:prstGeom prst="rect">
            <a:avLst/>
          </a:prstGeom>
          <a:noFill/>
          <a:ln/>
        </p:spPr>
        <p:txBody>
          <a:bodyPr wrap="square" lIns="0" tIns="0" rIns="0" bIns="0" rtlCol="0" anchor="ctr"/>
          <a:lstStyle/>
          <a:p>
            <a:pPr indent="0" marL="0">
              <a:buNone/>
            </a:pPr>
            <a:r>
              <a:rPr lang="en-US" sz="2000" b="1" dirty="0">
                <a:solidFill>
                  <a:srgbClr val="16263D"/>
                </a:solidFill>
                <a:latin typeface="Calibri" pitchFamily="34" charset="0"/>
                <a:ea typeface="Calibri" pitchFamily="34" charset="-122"/>
                <a:cs typeface="Calibri" pitchFamily="34" charset="-120"/>
              </a:rPr>
              <a:t>Write, then reveal</a:t>
            </a:r>
            <a:endParaRPr lang="en-US" sz="2000" dirty="0"/>
          </a:p>
        </p:txBody>
      </p:sp>
      <p:sp>
        <p:nvSpPr>
          <p:cNvPr id="19" name="Text 17"/>
          <p:cNvSpPr/>
          <p:nvPr/>
        </p:nvSpPr>
        <p:spPr>
          <a:xfrm>
            <a:off x="868680" y="4251960"/>
            <a:ext cx="5029200" cy="960120"/>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The teacher traces the first step. Students complete the next step before the page shows it.</a:t>
            </a:r>
            <a:endParaRPr lang="en-US" sz="1600" dirty="0"/>
          </a:p>
        </p:txBody>
      </p:sp>
      <p:sp>
        <p:nvSpPr>
          <p:cNvPr id="20" name="Shape 18"/>
          <p:cNvSpPr/>
          <p:nvPr/>
        </p:nvSpPr>
        <p:spPr>
          <a:xfrm>
            <a:off x="6355080" y="3566160"/>
            <a:ext cx="5577840" cy="1874520"/>
          </a:xfrm>
          <a:prstGeom prst="rect">
            <a:avLst/>
          </a:prstGeom>
          <a:solidFill>
            <a:srgbClr val="FFFFFF"/>
          </a:solidFill>
          <a:ln w="12700">
            <a:solidFill>
              <a:srgbClr val="C9C0B2"/>
            </a:solidFill>
            <a:prstDash val="solid"/>
          </a:ln>
        </p:spPr>
      </p:sp>
      <p:sp>
        <p:nvSpPr>
          <p:cNvPr id="21" name="Shape 19"/>
          <p:cNvSpPr/>
          <p:nvPr/>
        </p:nvSpPr>
        <p:spPr>
          <a:xfrm>
            <a:off x="6355080" y="3566160"/>
            <a:ext cx="91440" cy="1874520"/>
          </a:xfrm>
          <a:prstGeom prst="rect">
            <a:avLst/>
          </a:prstGeom>
          <a:solidFill>
            <a:srgbClr val="E8624D"/>
          </a:solidFill>
          <a:ln/>
        </p:spPr>
      </p:sp>
      <p:sp>
        <p:nvSpPr>
          <p:cNvPr id="22" name="Text 20"/>
          <p:cNvSpPr/>
          <p:nvPr/>
        </p:nvSpPr>
        <p:spPr>
          <a:xfrm>
            <a:off x="6675120" y="3767328"/>
            <a:ext cx="5029200" cy="384048"/>
          </a:xfrm>
          <a:prstGeom prst="rect">
            <a:avLst/>
          </a:prstGeom>
          <a:noFill/>
          <a:ln/>
        </p:spPr>
        <p:txBody>
          <a:bodyPr wrap="square" lIns="0" tIns="0" rIns="0" bIns="0" rtlCol="0" anchor="ctr"/>
          <a:lstStyle/>
          <a:p>
            <a:pPr indent="0" marL="0">
              <a:buNone/>
            </a:pPr>
            <a:r>
              <a:rPr lang="en-US" sz="2000" b="1" dirty="0">
                <a:solidFill>
                  <a:srgbClr val="16263D"/>
                </a:solidFill>
                <a:latin typeface="Calibri" pitchFamily="34" charset="0"/>
                <a:ea typeface="Calibri" pitchFamily="34" charset="-122"/>
                <a:cs typeface="Calibri" pitchFamily="34" charset="-120"/>
              </a:rPr>
              <a:t>The long slot</a:t>
            </a:r>
            <a:endParaRPr lang="en-US" sz="2000" dirty="0"/>
          </a:p>
        </p:txBody>
      </p:sp>
      <p:sp>
        <p:nvSpPr>
          <p:cNvPr id="23" name="Text 21"/>
          <p:cNvSpPr/>
          <p:nvPr/>
        </p:nvSpPr>
        <p:spPr>
          <a:xfrm>
            <a:off x="6675120" y="4251960"/>
            <a:ext cx="5029200" cy="960120"/>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The insert rewrites two pointers. It has 15 minutes, and students do it in pairs.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EFE6"/>
        </a:solidFill>
      </p:bgPr>
    </p:bg>
    <p:spTree>
      <p:nvGrpSpPr>
        <p:cNvPr id="1" name=""/>
        <p:cNvGrpSpPr/>
        <p:nvPr/>
      </p:nvGrpSpPr>
      <p:grpSpPr>
        <a:xfrm>
          <a:off x="0" y="0"/>
          <a:ext cx="0" cy="0"/>
          <a:chOff x="0" y="0"/>
          <a:chExt cx="0" cy="0"/>
        </a:xfrm>
      </p:grpSpPr>
      <p:sp>
        <p:nvSpPr>
          <p:cNvPr id="2" name="Text 0"/>
          <p:cNvSpPr/>
          <p:nvPr/>
        </p:nvSpPr>
        <p:spPr>
          <a:xfrm>
            <a:off x="548640" y="347472"/>
            <a:ext cx="8412480" cy="292608"/>
          </a:xfrm>
          <a:prstGeom prst="rect">
            <a:avLst/>
          </a:prstGeom>
          <a:noFill/>
          <a:ln/>
        </p:spPr>
        <p:txBody>
          <a:bodyPr wrap="square" lIns="0" tIns="0" rIns="0" bIns="0" rtlCol="0" anchor="ctr"/>
          <a:lstStyle/>
          <a:p>
            <a:pPr indent="0" marL="0">
              <a:buNone/>
            </a:pPr>
            <a:r>
              <a:rPr lang="en-US" sz="1200" spc="220" kern="0" dirty="0">
                <a:solidFill>
                  <a:srgbClr val="5C6470"/>
                </a:solidFill>
                <a:latin typeface="Calibri" pitchFamily="34" charset="0"/>
                <a:ea typeface="Calibri" pitchFamily="34" charset="-122"/>
                <a:cs typeface="Calibri" pitchFamily="34" charset="-120"/>
              </a:rPr>
              <a:t>05    ·    MEMBER B    ·    THE LESSON</a:t>
            </a:r>
            <a:endParaRPr lang="en-US" sz="1200" dirty="0"/>
          </a:p>
        </p:txBody>
      </p:sp>
      <p:sp>
        <p:nvSpPr>
          <p:cNvPr id="3" name="Text 1"/>
          <p:cNvSpPr/>
          <p:nvPr/>
        </p:nvSpPr>
        <p:spPr>
          <a:xfrm>
            <a:off x="10271455" y="347472"/>
            <a:ext cx="1371600" cy="292608"/>
          </a:xfrm>
          <a:prstGeom prst="rect">
            <a:avLst/>
          </a:prstGeom>
          <a:noFill/>
          <a:ln/>
        </p:spPr>
        <p:txBody>
          <a:bodyPr wrap="square" lIns="0" tIns="0" rIns="0" bIns="0" rtlCol="0" anchor="ctr"/>
          <a:lstStyle/>
          <a:p>
            <a:pPr algn="r" indent="0" marL="0">
              <a:buNone/>
            </a:pPr>
            <a:r>
              <a:rPr lang="en-US" sz="1200" dirty="0">
                <a:solidFill>
                  <a:srgbClr val="5C6470"/>
                </a:solidFill>
                <a:latin typeface="Calibri" pitchFamily="34" charset="0"/>
                <a:ea typeface="Calibri" pitchFamily="34" charset="-122"/>
                <a:cs typeface="Calibri" pitchFamily="34" charset="-120"/>
              </a:rPr>
              <a:t>05  /  11</a:t>
            </a:r>
            <a:endParaRPr lang="en-US" sz="1200" dirty="0"/>
          </a:p>
        </p:txBody>
      </p:sp>
      <p:sp>
        <p:nvSpPr>
          <p:cNvPr id="4" name="Shape 2"/>
          <p:cNvSpPr/>
          <p:nvPr/>
        </p:nvSpPr>
        <p:spPr>
          <a:xfrm>
            <a:off x="548640" y="6355080"/>
            <a:ext cx="11094415" cy="0"/>
          </a:xfrm>
          <a:prstGeom prst="line">
            <a:avLst/>
          </a:prstGeom>
          <a:noFill/>
          <a:ln w="9525">
            <a:solidFill>
              <a:srgbClr val="C9C0B2"/>
            </a:solidFill>
            <a:prstDash val="solid"/>
          </a:ln>
        </p:spPr>
      </p:sp>
      <p:sp>
        <p:nvSpPr>
          <p:cNvPr id="5" name="Text 3"/>
          <p:cNvSpPr/>
          <p:nvPr/>
        </p:nvSpPr>
        <p:spPr>
          <a:xfrm>
            <a:off x="548640" y="6473952"/>
            <a:ext cx="5669280" cy="256032"/>
          </a:xfrm>
          <a:prstGeom prst="rect">
            <a:avLst/>
          </a:prstGeom>
          <a:noFill/>
          <a:ln/>
        </p:spPr>
        <p:txBody>
          <a:bodyPr wrap="square" lIns="0" tIns="0" rIns="0" bIns="0" rtlCol="0" anchor="ctr"/>
          <a:lstStyle/>
          <a:p>
            <a:pPr indent="0" marL="0">
              <a:buNone/>
            </a:pPr>
            <a:r>
              <a:rPr lang="en-US" sz="1100" dirty="0">
                <a:solidFill>
                  <a:srgbClr val="5C6470"/>
                </a:solidFill>
                <a:latin typeface="Calibri" pitchFamily="34" charset="0"/>
                <a:ea typeface="Calibri" pitchFamily="34" charset="-122"/>
                <a:cs typeface="Calibri" pitchFamily="34" charset="-120"/>
              </a:rPr>
              <a:t>INT2065  ·  GROUP PROJECT</a:t>
            </a:r>
            <a:endParaRPr lang="en-US" sz="1100" dirty="0"/>
          </a:p>
        </p:txBody>
      </p:sp>
      <p:sp>
        <p:nvSpPr>
          <p:cNvPr id="6" name="Text 4"/>
          <p:cNvSpPr/>
          <p:nvPr/>
        </p:nvSpPr>
        <p:spPr>
          <a:xfrm>
            <a:off x="5973775" y="6473952"/>
            <a:ext cx="5669280" cy="256032"/>
          </a:xfrm>
          <a:prstGeom prst="rect">
            <a:avLst/>
          </a:prstGeom>
          <a:noFill/>
          <a:ln/>
        </p:spPr>
        <p:txBody>
          <a:bodyPr wrap="square" lIns="0" tIns="0" rIns="0" bIns="0" rtlCol="0" anchor="ctr"/>
          <a:lstStyle/>
          <a:p>
            <a:pPr algn="r" indent="0" marL="0">
              <a:buNone/>
            </a:pPr>
            <a:r>
              <a:rPr lang="en-US" sz="1100" dirty="0">
                <a:solidFill>
                  <a:srgbClr val="5C6470"/>
                </a:solidFill>
                <a:latin typeface="Calibri" pitchFamily="34" charset="0"/>
                <a:ea typeface="Calibri" pitchFamily="34" charset="-122"/>
                <a:cs typeface="Calibri" pitchFamily="34" charset="-120"/>
              </a:rPr>
              <a:t>60 MINUTES</a:t>
            </a:r>
            <a:endParaRPr lang="en-US" sz="1100" dirty="0"/>
          </a:p>
        </p:txBody>
      </p:sp>
      <p:sp>
        <p:nvSpPr>
          <p:cNvPr id="7" name="Text 5"/>
          <p:cNvSpPr/>
          <p:nvPr/>
        </p:nvSpPr>
        <p:spPr>
          <a:xfrm>
            <a:off x="548640" y="713232"/>
            <a:ext cx="11064240" cy="475488"/>
          </a:xfrm>
          <a:prstGeom prst="rect">
            <a:avLst/>
          </a:prstGeom>
          <a:noFill/>
          <a:ln/>
        </p:spPr>
        <p:txBody>
          <a:bodyPr wrap="square" lIns="0" tIns="0" rIns="0" bIns="0" rtlCol="0" anchor="ctr"/>
          <a:lstStyle/>
          <a:p>
            <a:pPr indent="0" marL="0">
              <a:buNone/>
            </a:pPr>
            <a:r>
              <a:rPr lang="en-US" sz="2800" b="1" dirty="0">
                <a:solidFill>
                  <a:srgbClr val="16263D"/>
                </a:solidFill>
                <a:latin typeface="Calibri" pitchFamily="34" charset="0"/>
                <a:ea typeface="Calibri" pitchFamily="34" charset="-122"/>
                <a:cs typeface="Calibri" pitchFamily="34" charset="-120"/>
              </a:rPr>
              <a:t>Where the hour goes</a:t>
            </a:r>
            <a:endParaRPr lang="en-US" sz="2800" dirty="0"/>
          </a:p>
        </p:txBody>
      </p:sp>
      <p:sp>
        <p:nvSpPr>
          <p:cNvPr id="8" name="Shape 6"/>
          <p:cNvSpPr/>
          <p:nvPr/>
        </p:nvSpPr>
        <p:spPr>
          <a:xfrm>
            <a:off x="548640" y="1371600"/>
            <a:ext cx="11109960" cy="585216"/>
          </a:xfrm>
          <a:prstGeom prst="rect">
            <a:avLst/>
          </a:prstGeom>
          <a:solidFill>
            <a:srgbClr val="EFE8DC"/>
          </a:solidFill>
          <a:ln/>
        </p:spPr>
      </p:sp>
      <p:sp>
        <p:nvSpPr>
          <p:cNvPr id="9" name="Text 7"/>
          <p:cNvSpPr/>
          <p:nvPr/>
        </p:nvSpPr>
        <p:spPr>
          <a:xfrm>
            <a:off x="685800" y="1371600"/>
            <a:ext cx="1143000" cy="585216"/>
          </a:xfrm>
          <a:prstGeom prst="rect">
            <a:avLst/>
          </a:prstGeom>
          <a:noFill/>
          <a:ln/>
        </p:spPr>
        <p:txBody>
          <a:bodyPr wrap="square" lIns="0" tIns="0" rIns="0" bIns="0" rtlCol="0" anchor="ctr"/>
          <a:lstStyle/>
          <a:p>
            <a:pPr indent="0" marL="0">
              <a:buNone/>
            </a:pPr>
            <a:r>
              <a:rPr lang="en-US" sz="1600" b="1" dirty="0">
                <a:solidFill>
                  <a:srgbClr val="E8624D"/>
                </a:solidFill>
                <a:latin typeface="Calibri" pitchFamily="34" charset="0"/>
                <a:ea typeface="Calibri" pitchFamily="34" charset="-122"/>
                <a:cs typeface="Calibri" pitchFamily="34" charset="-120"/>
              </a:rPr>
              <a:t>0–5</a:t>
            </a:r>
            <a:endParaRPr lang="en-US" sz="1600" dirty="0"/>
          </a:p>
        </p:txBody>
      </p:sp>
      <p:sp>
        <p:nvSpPr>
          <p:cNvPr id="10" name="Text 8"/>
          <p:cNvSpPr/>
          <p:nvPr/>
        </p:nvSpPr>
        <p:spPr>
          <a:xfrm>
            <a:off x="1920240" y="1371600"/>
            <a:ext cx="1965960" cy="585216"/>
          </a:xfrm>
          <a:prstGeom prst="rect">
            <a:avLst/>
          </a:prstGeom>
          <a:noFill/>
          <a:ln/>
        </p:spPr>
        <p:txBody>
          <a:bodyPr wrap="square" lIns="0" tIns="0" rIns="0" bIns="0" rtlCol="0" anchor="ctr"/>
          <a:lstStyle/>
          <a:p>
            <a:pPr indent="0" marL="0">
              <a:buNone/>
            </a:pPr>
            <a:r>
              <a:rPr lang="en-US" sz="1600" b="1" dirty="0">
                <a:solidFill>
                  <a:srgbClr val="16263D"/>
                </a:solidFill>
                <a:latin typeface="Calibri" pitchFamily="34" charset="0"/>
                <a:ea typeface="Calibri" pitchFamily="34" charset="-122"/>
                <a:cs typeface="Calibri" pitchFamily="34" charset="-120"/>
              </a:rPr>
              <a:t>One array</a:t>
            </a:r>
            <a:endParaRPr lang="en-US" sz="1600" dirty="0"/>
          </a:p>
        </p:txBody>
      </p:sp>
      <p:sp>
        <p:nvSpPr>
          <p:cNvPr id="11" name="Text 9"/>
          <p:cNvSpPr/>
          <p:nvPr/>
        </p:nvSpPr>
        <p:spPr>
          <a:xfrm>
            <a:off x="3977640" y="1371600"/>
            <a:ext cx="7498080" cy="585216"/>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What happens to later cells if a value is inserted between them?</a:t>
            </a:r>
            <a:endParaRPr lang="en-US" sz="1600" dirty="0"/>
          </a:p>
        </p:txBody>
      </p:sp>
      <p:sp>
        <p:nvSpPr>
          <p:cNvPr id="12" name="Shape 10"/>
          <p:cNvSpPr/>
          <p:nvPr/>
        </p:nvSpPr>
        <p:spPr>
          <a:xfrm>
            <a:off x="548640" y="1993392"/>
            <a:ext cx="11109960" cy="585216"/>
          </a:xfrm>
          <a:prstGeom prst="rect">
            <a:avLst/>
          </a:prstGeom>
          <a:solidFill>
            <a:srgbClr val="F4EFE6"/>
          </a:solidFill>
          <a:ln/>
        </p:spPr>
      </p:sp>
      <p:sp>
        <p:nvSpPr>
          <p:cNvPr id="13" name="Text 11"/>
          <p:cNvSpPr/>
          <p:nvPr/>
        </p:nvSpPr>
        <p:spPr>
          <a:xfrm>
            <a:off x="685800" y="1993392"/>
            <a:ext cx="1143000" cy="585216"/>
          </a:xfrm>
          <a:prstGeom prst="rect">
            <a:avLst/>
          </a:prstGeom>
          <a:noFill/>
          <a:ln/>
        </p:spPr>
        <p:txBody>
          <a:bodyPr wrap="square" lIns="0" tIns="0" rIns="0" bIns="0" rtlCol="0" anchor="ctr"/>
          <a:lstStyle/>
          <a:p>
            <a:pPr indent="0" marL="0">
              <a:buNone/>
            </a:pPr>
            <a:r>
              <a:rPr lang="en-US" sz="1600" b="1" dirty="0">
                <a:solidFill>
                  <a:srgbClr val="E8624D"/>
                </a:solidFill>
                <a:latin typeface="Calibri" pitchFamily="34" charset="0"/>
                <a:ea typeface="Calibri" pitchFamily="34" charset="-122"/>
                <a:cs typeface="Calibri" pitchFamily="34" charset="-120"/>
              </a:rPr>
              <a:t>5–12</a:t>
            </a:r>
            <a:endParaRPr lang="en-US" sz="1600" dirty="0"/>
          </a:p>
        </p:txBody>
      </p:sp>
      <p:sp>
        <p:nvSpPr>
          <p:cNvPr id="14" name="Text 12"/>
          <p:cNvSpPr/>
          <p:nvPr/>
        </p:nvSpPr>
        <p:spPr>
          <a:xfrm>
            <a:off x="1920240" y="1993392"/>
            <a:ext cx="1965960" cy="585216"/>
          </a:xfrm>
          <a:prstGeom prst="rect">
            <a:avLst/>
          </a:prstGeom>
          <a:noFill/>
          <a:ln/>
        </p:spPr>
        <p:txBody>
          <a:bodyPr wrap="square" lIns="0" tIns="0" rIns="0" bIns="0" rtlCol="0" anchor="ctr"/>
          <a:lstStyle/>
          <a:p>
            <a:pPr indent="0" marL="0">
              <a:buNone/>
            </a:pPr>
            <a:r>
              <a:rPr lang="en-US" sz="1600" b="1" dirty="0">
                <a:solidFill>
                  <a:srgbClr val="16263D"/>
                </a:solidFill>
                <a:latin typeface="Calibri" pitchFamily="34" charset="0"/>
                <a:ea typeface="Calibri" pitchFamily="34" charset="-122"/>
                <a:cs typeface="Calibri" pitchFamily="34" charset="-120"/>
              </a:rPr>
              <a:t>Five names</a:t>
            </a:r>
            <a:endParaRPr lang="en-US" sz="1600" dirty="0"/>
          </a:p>
        </p:txBody>
      </p:sp>
      <p:sp>
        <p:nvSpPr>
          <p:cNvPr id="15" name="Text 13"/>
          <p:cNvSpPr/>
          <p:nvPr/>
        </p:nvSpPr>
        <p:spPr>
          <a:xfrm>
            <a:off x="3977640" y="1993392"/>
            <a:ext cx="7498080" cy="585216"/>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TOP, FRONT, REAR, HEAD, NEXT. Today only adds data.</a:t>
            </a:r>
            <a:endParaRPr lang="en-US" sz="1600" dirty="0"/>
          </a:p>
        </p:txBody>
      </p:sp>
      <p:sp>
        <p:nvSpPr>
          <p:cNvPr id="16" name="Shape 14"/>
          <p:cNvSpPr/>
          <p:nvPr/>
        </p:nvSpPr>
        <p:spPr>
          <a:xfrm>
            <a:off x="548640" y="2615184"/>
            <a:ext cx="11109960" cy="585216"/>
          </a:xfrm>
          <a:prstGeom prst="rect">
            <a:avLst/>
          </a:prstGeom>
          <a:solidFill>
            <a:srgbClr val="EFE8DC"/>
          </a:solidFill>
          <a:ln/>
        </p:spPr>
      </p:sp>
      <p:sp>
        <p:nvSpPr>
          <p:cNvPr id="17" name="Text 15"/>
          <p:cNvSpPr/>
          <p:nvPr/>
        </p:nvSpPr>
        <p:spPr>
          <a:xfrm>
            <a:off x="685800" y="2615184"/>
            <a:ext cx="1143000" cy="585216"/>
          </a:xfrm>
          <a:prstGeom prst="rect">
            <a:avLst/>
          </a:prstGeom>
          <a:noFill/>
          <a:ln/>
        </p:spPr>
        <p:txBody>
          <a:bodyPr wrap="square" lIns="0" tIns="0" rIns="0" bIns="0" rtlCol="0" anchor="ctr"/>
          <a:lstStyle/>
          <a:p>
            <a:pPr indent="0" marL="0">
              <a:buNone/>
            </a:pPr>
            <a:r>
              <a:rPr lang="en-US" sz="1600" b="1" dirty="0">
                <a:solidFill>
                  <a:srgbClr val="E8624D"/>
                </a:solidFill>
                <a:latin typeface="Calibri" pitchFamily="34" charset="0"/>
                <a:ea typeface="Calibri" pitchFamily="34" charset="-122"/>
                <a:cs typeface="Calibri" pitchFamily="34" charset="-120"/>
              </a:rPr>
              <a:t>12–22</a:t>
            </a:r>
            <a:endParaRPr lang="en-US" sz="1600" dirty="0"/>
          </a:p>
        </p:txBody>
      </p:sp>
      <p:sp>
        <p:nvSpPr>
          <p:cNvPr id="18" name="Text 16"/>
          <p:cNvSpPr/>
          <p:nvPr/>
        </p:nvSpPr>
        <p:spPr>
          <a:xfrm>
            <a:off x="1920240" y="2615184"/>
            <a:ext cx="1965960" cy="585216"/>
          </a:xfrm>
          <a:prstGeom prst="rect">
            <a:avLst/>
          </a:prstGeom>
          <a:noFill/>
          <a:ln/>
        </p:spPr>
        <p:txBody>
          <a:bodyPr wrap="square" lIns="0" tIns="0" rIns="0" bIns="0" rtlCol="0" anchor="ctr"/>
          <a:lstStyle/>
          <a:p>
            <a:pPr indent="0" marL="0">
              <a:buNone/>
            </a:pPr>
            <a:r>
              <a:rPr lang="en-US" sz="1600" b="1" dirty="0">
                <a:solidFill>
                  <a:srgbClr val="16263D"/>
                </a:solidFill>
                <a:latin typeface="Calibri" pitchFamily="34" charset="0"/>
                <a:ea typeface="Calibri" pitchFamily="34" charset="-122"/>
                <a:cs typeface="Calibri" pitchFamily="34" charset="-120"/>
              </a:rPr>
              <a:t>Stack</a:t>
            </a:r>
            <a:endParaRPr lang="en-US" sz="1600" dirty="0"/>
          </a:p>
        </p:txBody>
      </p:sp>
      <p:sp>
        <p:nvSpPr>
          <p:cNvPr id="19" name="Text 17"/>
          <p:cNvSpPr/>
          <p:nvPr/>
        </p:nvSpPr>
        <p:spPr>
          <a:xfrm>
            <a:off x="3977640" y="2615184"/>
            <a:ext cx="7498080" cy="585216"/>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Push 15 is shown. Students predict push 28, then push 41.</a:t>
            </a:r>
            <a:endParaRPr lang="en-US" sz="1600" dirty="0"/>
          </a:p>
        </p:txBody>
      </p:sp>
      <p:sp>
        <p:nvSpPr>
          <p:cNvPr id="20" name="Shape 18"/>
          <p:cNvSpPr/>
          <p:nvPr/>
        </p:nvSpPr>
        <p:spPr>
          <a:xfrm>
            <a:off x="548640" y="3236976"/>
            <a:ext cx="11109960" cy="585216"/>
          </a:xfrm>
          <a:prstGeom prst="rect">
            <a:avLst/>
          </a:prstGeom>
          <a:solidFill>
            <a:srgbClr val="F4EFE6"/>
          </a:solidFill>
          <a:ln/>
        </p:spPr>
      </p:sp>
      <p:sp>
        <p:nvSpPr>
          <p:cNvPr id="21" name="Text 19"/>
          <p:cNvSpPr/>
          <p:nvPr/>
        </p:nvSpPr>
        <p:spPr>
          <a:xfrm>
            <a:off x="685800" y="3236976"/>
            <a:ext cx="1143000" cy="585216"/>
          </a:xfrm>
          <a:prstGeom prst="rect">
            <a:avLst/>
          </a:prstGeom>
          <a:noFill/>
          <a:ln/>
        </p:spPr>
        <p:txBody>
          <a:bodyPr wrap="square" lIns="0" tIns="0" rIns="0" bIns="0" rtlCol="0" anchor="ctr"/>
          <a:lstStyle/>
          <a:p>
            <a:pPr indent="0" marL="0">
              <a:buNone/>
            </a:pPr>
            <a:r>
              <a:rPr lang="en-US" sz="1600" b="1" dirty="0">
                <a:solidFill>
                  <a:srgbClr val="E8624D"/>
                </a:solidFill>
                <a:latin typeface="Calibri" pitchFamily="34" charset="0"/>
                <a:ea typeface="Calibri" pitchFamily="34" charset="-122"/>
                <a:cs typeface="Calibri" pitchFamily="34" charset="-120"/>
              </a:rPr>
              <a:t>22–33</a:t>
            </a:r>
            <a:endParaRPr lang="en-US" sz="1600" dirty="0"/>
          </a:p>
        </p:txBody>
      </p:sp>
      <p:sp>
        <p:nvSpPr>
          <p:cNvPr id="22" name="Text 20"/>
          <p:cNvSpPr/>
          <p:nvPr/>
        </p:nvSpPr>
        <p:spPr>
          <a:xfrm>
            <a:off x="1920240" y="3236976"/>
            <a:ext cx="1965960" cy="585216"/>
          </a:xfrm>
          <a:prstGeom prst="rect">
            <a:avLst/>
          </a:prstGeom>
          <a:noFill/>
          <a:ln/>
        </p:spPr>
        <p:txBody>
          <a:bodyPr wrap="square" lIns="0" tIns="0" rIns="0" bIns="0" rtlCol="0" anchor="ctr"/>
          <a:lstStyle/>
          <a:p>
            <a:pPr indent="0" marL="0">
              <a:buNone/>
            </a:pPr>
            <a:r>
              <a:rPr lang="en-US" sz="1600" b="1" dirty="0">
                <a:solidFill>
                  <a:srgbClr val="16263D"/>
                </a:solidFill>
                <a:latin typeface="Calibri" pitchFamily="34" charset="0"/>
                <a:ea typeface="Calibri" pitchFamily="34" charset="-122"/>
                <a:cs typeface="Calibri" pitchFamily="34" charset="-120"/>
              </a:rPr>
              <a:t>Queue</a:t>
            </a:r>
            <a:endParaRPr lang="en-US" sz="1600" dirty="0"/>
          </a:p>
        </p:txBody>
      </p:sp>
      <p:sp>
        <p:nvSpPr>
          <p:cNvPr id="23" name="Text 21"/>
          <p:cNvSpPr/>
          <p:nvPr/>
        </p:nvSpPr>
        <p:spPr>
          <a:xfrm>
            <a:off x="3977640" y="3236976"/>
            <a:ext cx="7498080" cy="585216"/>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Enqueue the same three values. Ask why FRONT stays 1.</a:t>
            </a:r>
            <a:endParaRPr lang="en-US" sz="1600" dirty="0"/>
          </a:p>
        </p:txBody>
      </p:sp>
      <p:sp>
        <p:nvSpPr>
          <p:cNvPr id="24" name="Shape 22"/>
          <p:cNvSpPr/>
          <p:nvPr/>
        </p:nvSpPr>
        <p:spPr>
          <a:xfrm>
            <a:off x="548640" y="3858768"/>
            <a:ext cx="11109960" cy="585216"/>
          </a:xfrm>
          <a:prstGeom prst="rect">
            <a:avLst/>
          </a:prstGeom>
          <a:solidFill>
            <a:srgbClr val="EFE8DC"/>
          </a:solidFill>
          <a:ln/>
        </p:spPr>
      </p:sp>
      <p:sp>
        <p:nvSpPr>
          <p:cNvPr id="25" name="Text 23"/>
          <p:cNvSpPr/>
          <p:nvPr/>
        </p:nvSpPr>
        <p:spPr>
          <a:xfrm>
            <a:off x="685800" y="3858768"/>
            <a:ext cx="1143000" cy="585216"/>
          </a:xfrm>
          <a:prstGeom prst="rect">
            <a:avLst/>
          </a:prstGeom>
          <a:noFill/>
          <a:ln/>
        </p:spPr>
        <p:txBody>
          <a:bodyPr wrap="square" lIns="0" tIns="0" rIns="0" bIns="0" rtlCol="0" anchor="ctr"/>
          <a:lstStyle/>
          <a:p>
            <a:pPr indent="0" marL="0">
              <a:buNone/>
            </a:pPr>
            <a:r>
              <a:rPr lang="en-US" sz="1600" b="1" dirty="0">
                <a:solidFill>
                  <a:srgbClr val="E8624D"/>
                </a:solidFill>
                <a:latin typeface="Calibri" pitchFamily="34" charset="0"/>
                <a:ea typeface="Calibri" pitchFamily="34" charset="-122"/>
                <a:cs typeface="Calibri" pitchFamily="34" charset="-120"/>
              </a:rPr>
              <a:t>33–48</a:t>
            </a:r>
            <a:endParaRPr lang="en-US" sz="1600" dirty="0"/>
          </a:p>
        </p:txBody>
      </p:sp>
      <p:sp>
        <p:nvSpPr>
          <p:cNvPr id="26" name="Text 24"/>
          <p:cNvSpPr/>
          <p:nvPr/>
        </p:nvSpPr>
        <p:spPr>
          <a:xfrm>
            <a:off x="1920240" y="3858768"/>
            <a:ext cx="1965960" cy="585216"/>
          </a:xfrm>
          <a:prstGeom prst="rect">
            <a:avLst/>
          </a:prstGeom>
          <a:noFill/>
          <a:ln/>
        </p:spPr>
        <p:txBody>
          <a:bodyPr wrap="square" lIns="0" tIns="0" rIns="0" bIns="0" rtlCol="0" anchor="ctr"/>
          <a:lstStyle/>
          <a:p>
            <a:pPr indent="0" marL="0">
              <a:buNone/>
            </a:pPr>
            <a:r>
              <a:rPr lang="en-US" sz="1600" b="1" dirty="0">
                <a:solidFill>
                  <a:srgbClr val="16263D"/>
                </a:solidFill>
                <a:latin typeface="Calibri" pitchFamily="34" charset="0"/>
                <a:ea typeface="Calibri" pitchFamily="34" charset="-122"/>
                <a:cs typeface="Calibri" pitchFamily="34" charset="-120"/>
              </a:rPr>
              <a:t>Linked list</a:t>
            </a:r>
            <a:endParaRPr lang="en-US" sz="1600" dirty="0"/>
          </a:p>
        </p:txBody>
      </p:sp>
      <p:sp>
        <p:nvSpPr>
          <p:cNvPr id="27" name="Text 25"/>
          <p:cNvSpPr/>
          <p:nvPr/>
        </p:nvSpPr>
        <p:spPr>
          <a:xfrm>
            <a:off x="3977640" y="3858768"/>
            <a:ext cx="7498080" cy="585216"/>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Insert 28 between 15 and 41. Pairs write the second NEXT.</a:t>
            </a:r>
            <a:endParaRPr lang="en-US" sz="1600" dirty="0"/>
          </a:p>
        </p:txBody>
      </p:sp>
      <p:sp>
        <p:nvSpPr>
          <p:cNvPr id="28" name="Shape 26"/>
          <p:cNvSpPr/>
          <p:nvPr/>
        </p:nvSpPr>
        <p:spPr>
          <a:xfrm>
            <a:off x="548640" y="4480560"/>
            <a:ext cx="11109960" cy="585216"/>
          </a:xfrm>
          <a:prstGeom prst="rect">
            <a:avLst/>
          </a:prstGeom>
          <a:solidFill>
            <a:srgbClr val="F4EFE6"/>
          </a:solidFill>
          <a:ln/>
        </p:spPr>
      </p:sp>
      <p:sp>
        <p:nvSpPr>
          <p:cNvPr id="29" name="Text 27"/>
          <p:cNvSpPr/>
          <p:nvPr/>
        </p:nvSpPr>
        <p:spPr>
          <a:xfrm>
            <a:off x="685800" y="4480560"/>
            <a:ext cx="1143000" cy="585216"/>
          </a:xfrm>
          <a:prstGeom prst="rect">
            <a:avLst/>
          </a:prstGeom>
          <a:noFill/>
          <a:ln/>
        </p:spPr>
        <p:txBody>
          <a:bodyPr wrap="square" lIns="0" tIns="0" rIns="0" bIns="0" rtlCol="0" anchor="ctr"/>
          <a:lstStyle/>
          <a:p>
            <a:pPr indent="0" marL="0">
              <a:buNone/>
            </a:pPr>
            <a:r>
              <a:rPr lang="en-US" sz="1600" b="1" dirty="0">
                <a:solidFill>
                  <a:srgbClr val="E8624D"/>
                </a:solidFill>
                <a:latin typeface="Calibri" pitchFamily="34" charset="0"/>
                <a:ea typeface="Calibri" pitchFamily="34" charset="-122"/>
                <a:cs typeface="Calibri" pitchFamily="34" charset="-120"/>
              </a:rPr>
              <a:t>48–55</a:t>
            </a:r>
            <a:endParaRPr lang="en-US" sz="1600" dirty="0"/>
          </a:p>
        </p:txBody>
      </p:sp>
      <p:sp>
        <p:nvSpPr>
          <p:cNvPr id="30" name="Text 28"/>
          <p:cNvSpPr/>
          <p:nvPr/>
        </p:nvSpPr>
        <p:spPr>
          <a:xfrm>
            <a:off x="1920240" y="4480560"/>
            <a:ext cx="1965960" cy="585216"/>
          </a:xfrm>
          <a:prstGeom prst="rect">
            <a:avLst/>
          </a:prstGeom>
          <a:noFill/>
          <a:ln/>
        </p:spPr>
        <p:txBody>
          <a:bodyPr wrap="square" lIns="0" tIns="0" rIns="0" bIns="0" rtlCol="0" anchor="ctr"/>
          <a:lstStyle/>
          <a:p>
            <a:pPr indent="0" marL="0">
              <a:buNone/>
            </a:pPr>
            <a:r>
              <a:rPr lang="en-US" sz="1600" b="1" dirty="0">
                <a:solidFill>
                  <a:srgbClr val="16263D"/>
                </a:solidFill>
                <a:latin typeface="Calibri" pitchFamily="34" charset="0"/>
                <a:ea typeface="Calibri" pitchFamily="34" charset="-122"/>
                <a:cs typeface="Calibri" pitchFamily="34" charset="-120"/>
              </a:rPr>
              <a:t>Compare</a:t>
            </a:r>
            <a:endParaRPr lang="en-US" sz="1600" dirty="0"/>
          </a:p>
        </p:txBody>
      </p:sp>
      <p:sp>
        <p:nvSpPr>
          <p:cNvPr id="31" name="Text 29"/>
          <p:cNvSpPr/>
          <p:nvPr/>
        </p:nvSpPr>
        <p:spPr>
          <a:xfrm>
            <a:off x="3977640" y="4480560"/>
            <a:ext cx="7498080" cy="585216"/>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Three rows, from the worksheet. The visualiser is closed.</a:t>
            </a:r>
            <a:endParaRPr lang="en-US" sz="1600" dirty="0"/>
          </a:p>
        </p:txBody>
      </p:sp>
      <p:sp>
        <p:nvSpPr>
          <p:cNvPr id="32" name="Shape 30"/>
          <p:cNvSpPr/>
          <p:nvPr/>
        </p:nvSpPr>
        <p:spPr>
          <a:xfrm>
            <a:off x="548640" y="5102352"/>
            <a:ext cx="11109960" cy="585216"/>
          </a:xfrm>
          <a:prstGeom prst="rect">
            <a:avLst/>
          </a:prstGeom>
          <a:solidFill>
            <a:srgbClr val="EFE8DC"/>
          </a:solidFill>
          <a:ln/>
        </p:spPr>
      </p:sp>
      <p:sp>
        <p:nvSpPr>
          <p:cNvPr id="33" name="Text 31"/>
          <p:cNvSpPr/>
          <p:nvPr/>
        </p:nvSpPr>
        <p:spPr>
          <a:xfrm>
            <a:off x="685800" y="5102352"/>
            <a:ext cx="1143000" cy="585216"/>
          </a:xfrm>
          <a:prstGeom prst="rect">
            <a:avLst/>
          </a:prstGeom>
          <a:noFill/>
          <a:ln/>
        </p:spPr>
        <p:txBody>
          <a:bodyPr wrap="square" lIns="0" tIns="0" rIns="0" bIns="0" rtlCol="0" anchor="ctr"/>
          <a:lstStyle/>
          <a:p>
            <a:pPr indent="0" marL="0">
              <a:buNone/>
            </a:pPr>
            <a:r>
              <a:rPr lang="en-US" sz="1600" b="1" dirty="0">
                <a:solidFill>
                  <a:srgbClr val="E8624D"/>
                </a:solidFill>
                <a:latin typeface="Calibri" pitchFamily="34" charset="0"/>
                <a:ea typeface="Calibri" pitchFamily="34" charset="-122"/>
                <a:cs typeface="Calibri" pitchFamily="34" charset="-120"/>
              </a:rPr>
              <a:t>55–60</a:t>
            </a:r>
            <a:endParaRPr lang="en-US" sz="1600" dirty="0"/>
          </a:p>
        </p:txBody>
      </p:sp>
      <p:sp>
        <p:nvSpPr>
          <p:cNvPr id="34" name="Text 32"/>
          <p:cNvSpPr/>
          <p:nvPr/>
        </p:nvSpPr>
        <p:spPr>
          <a:xfrm>
            <a:off x="1920240" y="5102352"/>
            <a:ext cx="1965960" cy="585216"/>
          </a:xfrm>
          <a:prstGeom prst="rect">
            <a:avLst/>
          </a:prstGeom>
          <a:noFill/>
          <a:ln/>
        </p:spPr>
        <p:txBody>
          <a:bodyPr wrap="square" lIns="0" tIns="0" rIns="0" bIns="0" rtlCol="0" anchor="ctr"/>
          <a:lstStyle/>
          <a:p>
            <a:pPr indent="0" marL="0">
              <a:buNone/>
            </a:pPr>
            <a:r>
              <a:rPr lang="en-US" sz="1600" b="1" dirty="0">
                <a:solidFill>
                  <a:srgbClr val="16263D"/>
                </a:solidFill>
                <a:latin typeface="Calibri" pitchFamily="34" charset="0"/>
                <a:ea typeface="Calibri" pitchFamily="34" charset="-122"/>
                <a:cs typeface="Calibri" pitchFamily="34" charset="-120"/>
              </a:rPr>
              <a:t>Exit</a:t>
            </a:r>
            <a:endParaRPr lang="en-US" sz="1600" dirty="0"/>
          </a:p>
        </p:txBody>
      </p:sp>
      <p:sp>
        <p:nvSpPr>
          <p:cNvPr id="35" name="Text 33"/>
          <p:cNvSpPr/>
          <p:nvPr/>
        </p:nvSpPr>
        <p:spPr>
          <a:xfrm>
            <a:off x="3977640" y="5102352"/>
            <a:ext cx="7498080" cy="585216"/>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A new stack, 7 and 9. Push 4. Name the next lesson.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EFE6"/>
        </a:solidFill>
      </p:bgPr>
    </p:bg>
    <p:spTree>
      <p:nvGrpSpPr>
        <p:cNvPr id="1" name=""/>
        <p:cNvGrpSpPr/>
        <p:nvPr/>
      </p:nvGrpSpPr>
      <p:grpSpPr>
        <a:xfrm>
          <a:off x="0" y="0"/>
          <a:ext cx="0" cy="0"/>
          <a:chOff x="0" y="0"/>
          <a:chExt cx="0" cy="0"/>
        </a:xfrm>
      </p:grpSpPr>
      <p:sp>
        <p:nvSpPr>
          <p:cNvPr id="2" name="Text 0"/>
          <p:cNvSpPr/>
          <p:nvPr/>
        </p:nvSpPr>
        <p:spPr>
          <a:xfrm>
            <a:off x="548640" y="347472"/>
            <a:ext cx="8412480" cy="292608"/>
          </a:xfrm>
          <a:prstGeom prst="rect">
            <a:avLst/>
          </a:prstGeom>
          <a:noFill/>
          <a:ln/>
        </p:spPr>
        <p:txBody>
          <a:bodyPr wrap="square" lIns="0" tIns="0" rIns="0" bIns="0" rtlCol="0" anchor="ctr"/>
          <a:lstStyle/>
          <a:p>
            <a:pPr indent="0" marL="0">
              <a:buNone/>
            </a:pPr>
            <a:r>
              <a:rPr lang="en-US" sz="1200" spc="220" kern="0" dirty="0">
                <a:solidFill>
                  <a:srgbClr val="5C6470"/>
                </a:solidFill>
                <a:latin typeface="Calibri" pitchFamily="34" charset="0"/>
                <a:ea typeface="Calibri" pitchFamily="34" charset="-122"/>
                <a:cs typeface="Calibri" pitchFamily="34" charset="-120"/>
              </a:rPr>
              <a:t>06    ·    MEMBER B    ·    WORKSHEET</a:t>
            </a:r>
            <a:endParaRPr lang="en-US" sz="1200" dirty="0"/>
          </a:p>
        </p:txBody>
      </p:sp>
      <p:sp>
        <p:nvSpPr>
          <p:cNvPr id="3" name="Text 1"/>
          <p:cNvSpPr/>
          <p:nvPr/>
        </p:nvSpPr>
        <p:spPr>
          <a:xfrm>
            <a:off x="10271455" y="347472"/>
            <a:ext cx="1371600" cy="292608"/>
          </a:xfrm>
          <a:prstGeom prst="rect">
            <a:avLst/>
          </a:prstGeom>
          <a:noFill/>
          <a:ln/>
        </p:spPr>
        <p:txBody>
          <a:bodyPr wrap="square" lIns="0" tIns="0" rIns="0" bIns="0" rtlCol="0" anchor="ctr"/>
          <a:lstStyle/>
          <a:p>
            <a:pPr algn="r" indent="0" marL="0">
              <a:buNone/>
            </a:pPr>
            <a:r>
              <a:rPr lang="en-US" sz="1200" dirty="0">
                <a:solidFill>
                  <a:srgbClr val="5C6470"/>
                </a:solidFill>
                <a:latin typeface="Calibri" pitchFamily="34" charset="0"/>
                <a:ea typeface="Calibri" pitchFamily="34" charset="-122"/>
                <a:cs typeface="Calibri" pitchFamily="34" charset="-120"/>
              </a:rPr>
              <a:t>06  /  11</a:t>
            </a:r>
            <a:endParaRPr lang="en-US" sz="1200" dirty="0"/>
          </a:p>
        </p:txBody>
      </p:sp>
      <p:sp>
        <p:nvSpPr>
          <p:cNvPr id="4" name="Shape 2"/>
          <p:cNvSpPr/>
          <p:nvPr/>
        </p:nvSpPr>
        <p:spPr>
          <a:xfrm>
            <a:off x="548640" y="6355080"/>
            <a:ext cx="11094415" cy="0"/>
          </a:xfrm>
          <a:prstGeom prst="line">
            <a:avLst/>
          </a:prstGeom>
          <a:noFill/>
          <a:ln w="9525">
            <a:solidFill>
              <a:srgbClr val="C9C0B2"/>
            </a:solidFill>
            <a:prstDash val="solid"/>
          </a:ln>
        </p:spPr>
      </p:sp>
      <p:sp>
        <p:nvSpPr>
          <p:cNvPr id="5" name="Text 3"/>
          <p:cNvSpPr/>
          <p:nvPr/>
        </p:nvSpPr>
        <p:spPr>
          <a:xfrm>
            <a:off x="548640" y="6473952"/>
            <a:ext cx="5669280" cy="256032"/>
          </a:xfrm>
          <a:prstGeom prst="rect">
            <a:avLst/>
          </a:prstGeom>
          <a:noFill/>
          <a:ln/>
        </p:spPr>
        <p:txBody>
          <a:bodyPr wrap="square" lIns="0" tIns="0" rIns="0" bIns="0" rtlCol="0" anchor="ctr"/>
          <a:lstStyle/>
          <a:p>
            <a:pPr indent="0" marL="0">
              <a:buNone/>
            </a:pPr>
            <a:r>
              <a:rPr lang="en-US" sz="1100" dirty="0">
                <a:solidFill>
                  <a:srgbClr val="5C6470"/>
                </a:solidFill>
                <a:latin typeface="Calibri" pitchFamily="34" charset="0"/>
                <a:ea typeface="Calibri" pitchFamily="34" charset="-122"/>
                <a:cs typeface="Calibri" pitchFamily="34" charset="-120"/>
              </a:rPr>
              <a:t>INT2065  ·  GROUP PROJECT</a:t>
            </a:r>
            <a:endParaRPr lang="en-US" sz="1100" dirty="0"/>
          </a:p>
        </p:txBody>
      </p:sp>
      <p:sp>
        <p:nvSpPr>
          <p:cNvPr id="6" name="Text 4"/>
          <p:cNvSpPr/>
          <p:nvPr/>
        </p:nvSpPr>
        <p:spPr>
          <a:xfrm>
            <a:off x="5973775" y="6473952"/>
            <a:ext cx="5669280" cy="256032"/>
          </a:xfrm>
          <a:prstGeom prst="rect">
            <a:avLst/>
          </a:prstGeom>
          <a:noFill/>
          <a:ln/>
        </p:spPr>
        <p:txBody>
          <a:bodyPr wrap="square" lIns="0" tIns="0" rIns="0" bIns="0" rtlCol="0" anchor="ctr"/>
          <a:lstStyle/>
          <a:p>
            <a:pPr algn="r" indent="0" marL="0">
              <a:buNone/>
            </a:pPr>
            <a:r>
              <a:rPr lang="en-US" sz="1100" dirty="0">
                <a:solidFill>
                  <a:srgbClr val="5C6470"/>
                </a:solidFill>
                <a:latin typeface="Calibri" pitchFamily="34" charset="0"/>
                <a:ea typeface="Calibri" pitchFamily="34" charset="-122"/>
                <a:cs typeface="Calibri" pitchFamily="34" charset="-120"/>
              </a:rPr>
              <a:t>BLUE IS GIVEN</a:t>
            </a:r>
            <a:endParaRPr lang="en-US" sz="1100" dirty="0"/>
          </a:p>
        </p:txBody>
      </p:sp>
      <p:sp>
        <p:nvSpPr>
          <p:cNvPr id="7" name="Text 5"/>
          <p:cNvSpPr/>
          <p:nvPr/>
        </p:nvSpPr>
        <p:spPr>
          <a:xfrm>
            <a:off x="548640" y="713232"/>
            <a:ext cx="11064240" cy="475488"/>
          </a:xfrm>
          <a:prstGeom prst="rect">
            <a:avLst/>
          </a:prstGeom>
          <a:noFill/>
          <a:ln/>
        </p:spPr>
        <p:txBody>
          <a:bodyPr wrap="square" lIns="0" tIns="0" rIns="0" bIns="0" rtlCol="0" anchor="ctr"/>
          <a:lstStyle/>
          <a:p>
            <a:pPr indent="0" marL="0">
              <a:buNone/>
            </a:pPr>
            <a:r>
              <a:rPr lang="en-US" sz="2800" b="1" dirty="0">
                <a:solidFill>
                  <a:srgbClr val="16263D"/>
                </a:solidFill>
                <a:latin typeface="Calibri" pitchFamily="34" charset="0"/>
                <a:ea typeface="Calibri" pitchFamily="34" charset="-122"/>
                <a:cs typeface="Calibri" pitchFamily="34" charset="-120"/>
              </a:rPr>
              <a:t>The sheet shows the worked step only</a:t>
            </a:r>
            <a:endParaRPr lang="en-US" sz="2800" dirty="0"/>
          </a:p>
        </p:txBody>
      </p:sp>
      <p:sp>
        <p:nvSpPr>
          <p:cNvPr id="8" name="Shape 6"/>
          <p:cNvSpPr/>
          <p:nvPr/>
        </p:nvSpPr>
        <p:spPr>
          <a:xfrm>
            <a:off x="548640" y="1463040"/>
            <a:ext cx="5486400" cy="4160520"/>
          </a:xfrm>
          <a:prstGeom prst="rect">
            <a:avLst/>
          </a:prstGeom>
          <a:solidFill>
            <a:srgbClr val="FFFFFF"/>
          </a:solidFill>
          <a:ln w="12700">
            <a:solidFill>
              <a:srgbClr val="C9C0B2"/>
            </a:solidFill>
            <a:prstDash val="solid"/>
          </a:ln>
        </p:spPr>
      </p:sp>
      <p:sp>
        <p:nvSpPr>
          <p:cNvPr id="9" name="Shape 7"/>
          <p:cNvSpPr/>
          <p:nvPr/>
        </p:nvSpPr>
        <p:spPr>
          <a:xfrm>
            <a:off x="6217920" y="1463040"/>
            <a:ext cx="5440680" cy="4160520"/>
          </a:xfrm>
          <a:prstGeom prst="rect">
            <a:avLst/>
          </a:prstGeom>
          <a:solidFill>
            <a:srgbClr val="0F1B2D"/>
          </a:solidFill>
          <a:ln/>
        </p:spPr>
      </p:sp>
      <p:sp>
        <p:nvSpPr>
          <p:cNvPr id="10" name="Text 8"/>
          <p:cNvSpPr/>
          <p:nvPr/>
        </p:nvSpPr>
        <p:spPr>
          <a:xfrm>
            <a:off x="777240" y="1645920"/>
            <a:ext cx="5029200" cy="292608"/>
          </a:xfrm>
          <a:prstGeom prst="rect">
            <a:avLst/>
          </a:prstGeom>
          <a:noFill/>
          <a:ln/>
        </p:spPr>
        <p:txBody>
          <a:bodyPr wrap="square" lIns="0" tIns="0" rIns="0" bIns="0" rtlCol="0" anchor="ctr"/>
          <a:lstStyle/>
          <a:p>
            <a:pPr indent="0" marL="0">
              <a:buNone/>
            </a:pPr>
            <a:r>
              <a:rPr lang="en-US" sz="1300" b="1" dirty="0">
                <a:solidFill>
                  <a:srgbClr val="E8624D"/>
                </a:solidFill>
                <a:latin typeface="Calibri" pitchFamily="34" charset="0"/>
                <a:ea typeface="Calibri" pitchFamily="34" charset="-122"/>
                <a:cs typeface="Calibri" pitchFamily="34" charset="-120"/>
              </a:rPr>
              <a:t>PRINTED IN BLUE</a:t>
            </a:r>
            <a:endParaRPr lang="en-US" sz="1300" dirty="0"/>
          </a:p>
        </p:txBody>
      </p:sp>
      <p:sp>
        <p:nvSpPr>
          <p:cNvPr id="11" name="Text 9"/>
          <p:cNvSpPr/>
          <p:nvPr/>
        </p:nvSpPr>
        <p:spPr>
          <a:xfrm>
            <a:off x="777240" y="1965960"/>
            <a:ext cx="5029200" cy="365760"/>
          </a:xfrm>
          <a:prstGeom prst="rect">
            <a:avLst/>
          </a:prstGeom>
          <a:noFill/>
          <a:ln/>
        </p:spPr>
        <p:txBody>
          <a:bodyPr wrap="square" lIns="0" tIns="0" rIns="0" bIns="0" rtlCol="0" anchor="ctr"/>
          <a:lstStyle/>
          <a:p>
            <a:pPr indent="0" marL="0">
              <a:buNone/>
            </a:pPr>
            <a:r>
              <a:rPr lang="en-US" sz="1800" b="1" dirty="0">
                <a:solidFill>
                  <a:srgbClr val="16263D"/>
                </a:solidFill>
                <a:latin typeface="Calibri" pitchFamily="34" charset="0"/>
                <a:ea typeface="Calibri" pitchFamily="34" charset="-122"/>
                <a:cs typeface="Calibri" pitchFamily="34" charset="-120"/>
              </a:rPr>
              <a:t>Given before the class writes</a:t>
            </a:r>
            <a:endParaRPr lang="en-US" sz="1800" dirty="0"/>
          </a:p>
        </p:txBody>
      </p:sp>
      <p:sp>
        <p:nvSpPr>
          <p:cNvPr id="12" name="Text 10"/>
          <p:cNvSpPr/>
          <p:nvPr/>
        </p:nvSpPr>
        <p:spPr>
          <a:xfrm>
            <a:off x="777240" y="2514600"/>
            <a:ext cx="4983480" cy="548640"/>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Stack: the start row, and push 15.</a:t>
            </a:r>
            <a:endParaRPr lang="en-US" sz="1600" dirty="0"/>
          </a:p>
        </p:txBody>
      </p:sp>
      <p:sp>
        <p:nvSpPr>
          <p:cNvPr id="13" name="Text 11"/>
          <p:cNvSpPr/>
          <p:nvPr/>
        </p:nvSpPr>
        <p:spPr>
          <a:xfrm>
            <a:off x="777240" y="3154680"/>
            <a:ext cx="4983480" cy="548640"/>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Queue: the start row only. FRONT is 1, REAR is 0.</a:t>
            </a:r>
            <a:endParaRPr lang="en-US" sz="1600" dirty="0"/>
          </a:p>
        </p:txBody>
      </p:sp>
      <p:sp>
        <p:nvSpPr>
          <p:cNvPr id="14" name="Text 12"/>
          <p:cNvSpPr/>
          <p:nvPr/>
        </p:nvSpPr>
        <p:spPr>
          <a:xfrm>
            <a:off x="777240" y="3794760"/>
            <a:ext cx="4983480" cy="548640"/>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List: the before table, DATA[3] and NEXT[3].</a:t>
            </a:r>
            <a:endParaRPr lang="en-US" sz="1600" dirty="0"/>
          </a:p>
        </p:txBody>
      </p:sp>
      <p:sp>
        <p:nvSpPr>
          <p:cNvPr id="15" name="Text 13"/>
          <p:cNvSpPr/>
          <p:nvPr/>
        </p:nvSpPr>
        <p:spPr>
          <a:xfrm>
            <a:off x="777240" y="4434840"/>
            <a:ext cx="4983480" cy="548640"/>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The five pointer prompts, without the names.</a:t>
            </a:r>
            <a:endParaRPr lang="en-US" sz="1600" dirty="0"/>
          </a:p>
        </p:txBody>
      </p:sp>
      <p:sp>
        <p:nvSpPr>
          <p:cNvPr id="16" name="Text 14"/>
          <p:cNvSpPr/>
          <p:nvPr/>
        </p:nvSpPr>
        <p:spPr>
          <a:xfrm>
            <a:off x="6446520" y="1645920"/>
            <a:ext cx="4983480" cy="292608"/>
          </a:xfrm>
          <a:prstGeom prst="rect">
            <a:avLst/>
          </a:prstGeom>
          <a:noFill/>
          <a:ln/>
        </p:spPr>
        <p:txBody>
          <a:bodyPr wrap="square" lIns="0" tIns="0" rIns="0" bIns="0" rtlCol="0" anchor="ctr"/>
          <a:lstStyle/>
          <a:p>
            <a:pPr indent="0" marL="0">
              <a:buNone/>
            </a:pPr>
            <a:r>
              <a:rPr lang="en-US" sz="1300" b="1" dirty="0">
                <a:solidFill>
                  <a:srgbClr val="F0C36A"/>
                </a:solidFill>
                <a:latin typeface="Calibri" pitchFamily="34" charset="0"/>
                <a:ea typeface="Calibri" pitchFamily="34" charset="-122"/>
                <a:cs typeface="Calibri" pitchFamily="34" charset="-120"/>
              </a:rPr>
              <a:t>LEFT YELLOW</a:t>
            </a:r>
            <a:endParaRPr lang="en-US" sz="1300" dirty="0"/>
          </a:p>
        </p:txBody>
      </p:sp>
      <p:sp>
        <p:nvSpPr>
          <p:cNvPr id="17" name="Text 15"/>
          <p:cNvSpPr/>
          <p:nvPr/>
        </p:nvSpPr>
        <p:spPr>
          <a:xfrm>
            <a:off x="6446520" y="1965960"/>
            <a:ext cx="4983480" cy="365760"/>
          </a:xfrm>
          <a:prstGeom prst="rect">
            <a:avLst/>
          </a:prstGeom>
          <a:noFill/>
          <a:ln/>
        </p:spPr>
        <p:txBody>
          <a:bodyPr wrap="square" lIns="0" tIns="0" rIns="0" bIns="0" rtlCol="0" anchor="ctr"/>
          <a:lstStyle/>
          <a:p>
            <a:pPr indent="0" marL="0">
              <a:buNone/>
            </a:pPr>
            <a:r>
              <a:rPr lang="en-US" sz="1800" b="1" dirty="0">
                <a:solidFill>
                  <a:srgbClr val="F4EFE6"/>
                </a:solidFill>
                <a:latin typeface="Calibri" pitchFamily="34" charset="0"/>
                <a:ea typeface="Calibri" pitchFamily="34" charset="-122"/>
                <a:cs typeface="Calibri" pitchFamily="34" charset="-120"/>
              </a:rPr>
              <a:t>Written before Next</a:t>
            </a:r>
            <a:endParaRPr lang="en-US" sz="1800" dirty="0"/>
          </a:p>
        </p:txBody>
      </p:sp>
      <p:sp>
        <p:nvSpPr>
          <p:cNvPr id="18" name="Text 16"/>
          <p:cNvSpPr/>
          <p:nvPr/>
        </p:nvSpPr>
        <p:spPr>
          <a:xfrm>
            <a:off x="6446520" y="2514600"/>
            <a:ext cx="4937760" cy="548640"/>
          </a:xfrm>
          <a:prstGeom prst="rect">
            <a:avLst/>
          </a:prstGeom>
          <a:noFill/>
          <a:ln/>
        </p:spPr>
        <p:txBody>
          <a:bodyPr wrap="square" lIns="0" tIns="0" rIns="0" bIns="0" rtlCol="0" anchor="ctr"/>
          <a:lstStyle/>
          <a:p>
            <a:pPr indent="0" marL="0">
              <a:buNone/>
            </a:pPr>
            <a:r>
              <a:rPr lang="en-US" sz="1600" dirty="0">
                <a:solidFill>
                  <a:srgbClr val="F4EFE6"/>
                </a:solidFill>
                <a:latin typeface="Calibri" pitchFamily="34" charset="0"/>
                <a:ea typeface="Calibri" pitchFamily="34" charset="-122"/>
                <a:cs typeface="Calibri" pitchFamily="34" charset="-120"/>
              </a:rPr>
              <a:t>Push 28 and push 41.</a:t>
            </a:r>
            <a:endParaRPr lang="en-US" sz="1600" dirty="0"/>
          </a:p>
        </p:txBody>
      </p:sp>
      <p:sp>
        <p:nvSpPr>
          <p:cNvPr id="19" name="Text 17"/>
          <p:cNvSpPr/>
          <p:nvPr/>
        </p:nvSpPr>
        <p:spPr>
          <a:xfrm>
            <a:off x="6446520" y="3154680"/>
            <a:ext cx="4937760" cy="548640"/>
          </a:xfrm>
          <a:prstGeom prst="rect">
            <a:avLst/>
          </a:prstGeom>
          <a:noFill/>
          <a:ln/>
        </p:spPr>
        <p:txBody>
          <a:bodyPr wrap="square" lIns="0" tIns="0" rIns="0" bIns="0" rtlCol="0" anchor="ctr"/>
          <a:lstStyle/>
          <a:p>
            <a:pPr indent="0" marL="0">
              <a:buNone/>
            </a:pPr>
            <a:r>
              <a:rPr lang="en-US" sz="1600" dirty="0">
                <a:solidFill>
                  <a:srgbClr val="F4EFE6"/>
                </a:solidFill>
                <a:latin typeface="Calibri" pitchFamily="34" charset="0"/>
                <a:ea typeface="Calibri" pitchFamily="34" charset="-122"/>
                <a:cs typeface="Calibri" pitchFamily="34" charset="-120"/>
              </a:rPr>
              <a:t>All three enqueue rows, and why FRONT stays 1.</a:t>
            </a:r>
            <a:endParaRPr lang="en-US" sz="1600" dirty="0"/>
          </a:p>
        </p:txBody>
      </p:sp>
      <p:sp>
        <p:nvSpPr>
          <p:cNvPr id="20" name="Text 18"/>
          <p:cNvSpPr/>
          <p:nvPr/>
        </p:nvSpPr>
        <p:spPr>
          <a:xfrm>
            <a:off x="6446520" y="3794760"/>
            <a:ext cx="4937760" cy="548640"/>
          </a:xfrm>
          <a:prstGeom prst="rect">
            <a:avLst/>
          </a:prstGeom>
          <a:noFill/>
          <a:ln/>
        </p:spPr>
        <p:txBody>
          <a:bodyPr wrap="square" lIns="0" tIns="0" rIns="0" bIns="0" rtlCol="0" anchor="ctr"/>
          <a:lstStyle/>
          <a:p>
            <a:pPr indent="0" marL="0">
              <a:buNone/>
            </a:pPr>
            <a:r>
              <a:rPr lang="en-US" sz="1600" dirty="0">
                <a:solidFill>
                  <a:srgbClr val="F4EFE6"/>
                </a:solidFill>
                <a:latin typeface="Calibri" pitchFamily="34" charset="0"/>
                <a:ea typeface="Calibri" pitchFamily="34" charset="-122"/>
                <a:cs typeface="Calibri" pitchFamily="34" charset="-120"/>
              </a:rPr>
              <a:t>NEXT[1], the after table, and what is lost if the order is reversed.</a:t>
            </a:r>
            <a:endParaRPr lang="en-US" sz="1600" dirty="0"/>
          </a:p>
        </p:txBody>
      </p:sp>
      <p:sp>
        <p:nvSpPr>
          <p:cNvPr id="21" name="Text 19"/>
          <p:cNvSpPr/>
          <p:nvPr/>
        </p:nvSpPr>
        <p:spPr>
          <a:xfrm>
            <a:off x="6446520" y="4434840"/>
            <a:ext cx="4937760" cy="548640"/>
          </a:xfrm>
          <a:prstGeom prst="rect">
            <a:avLst/>
          </a:prstGeom>
          <a:noFill/>
          <a:ln/>
        </p:spPr>
        <p:txBody>
          <a:bodyPr wrap="square" lIns="0" tIns="0" rIns="0" bIns="0" rtlCol="0" anchor="ctr"/>
          <a:lstStyle/>
          <a:p>
            <a:pPr indent="0" marL="0">
              <a:buNone/>
            </a:pPr>
            <a:r>
              <a:rPr lang="en-US" sz="1600" dirty="0">
                <a:solidFill>
                  <a:srgbClr val="F4EFE6"/>
                </a:solidFill>
                <a:latin typeface="Calibri" pitchFamily="34" charset="0"/>
                <a:ea typeface="Calibri" pitchFamily="34" charset="-122"/>
                <a:cs typeface="Calibri" pitchFamily="34" charset="-120"/>
              </a:rPr>
              <a:t>The comparison, then the exit strip.</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548640" y="347472"/>
            <a:ext cx="8412480" cy="292608"/>
          </a:xfrm>
          <a:prstGeom prst="rect">
            <a:avLst/>
          </a:prstGeom>
          <a:noFill/>
          <a:ln/>
        </p:spPr>
        <p:txBody>
          <a:bodyPr wrap="square" lIns="0" tIns="0" rIns="0" bIns="0" rtlCol="0" anchor="ctr"/>
          <a:lstStyle/>
          <a:p>
            <a:pPr indent="0" marL="0">
              <a:buNone/>
            </a:pPr>
            <a:r>
              <a:rPr lang="en-US" sz="1200" spc="220" kern="0" dirty="0">
                <a:solidFill>
                  <a:srgbClr val="8590A0"/>
                </a:solidFill>
                <a:latin typeface="Calibri" pitchFamily="34" charset="0"/>
                <a:ea typeface="Calibri" pitchFamily="34" charset="-122"/>
                <a:cs typeface="Calibri" pitchFamily="34" charset="-120"/>
              </a:rPr>
              <a:t>07    ·    MEMBER C    ·    AI CONCEPTS</a:t>
            </a:r>
            <a:endParaRPr lang="en-US" sz="1200" dirty="0"/>
          </a:p>
        </p:txBody>
      </p:sp>
      <p:sp>
        <p:nvSpPr>
          <p:cNvPr id="3" name="Text 1"/>
          <p:cNvSpPr/>
          <p:nvPr/>
        </p:nvSpPr>
        <p:spPr>
          <a:xfrm>
            <a:off x="10271455" y="347472"/>
            <a:ext cx="1371600" cy="292608"/>
          </a:xfrm>
          <a:prstGeom prst="rect">
            <a:avLst/>
          </a:prstGeom>
          <a:noFill/>
          <a:ln/>
        </p:spPr>
        <p:txBody>
          <a:bodyPr wrap="square" lIns="0" tIns="0" rIns="0" bIns="0" rtlCol="0" anchor="ctr"/>
          <a:lstStyle/>
          <a:p>
            <a:pPr algn="r" indent="0" marL="0">
              <a:buNone/>
            </a:pPr>
            <a:r>
              <a:rPr lang="en-US" sz="1200" dirty="0">
                <a:solidFill>
                  <a:srgbClr val="8590A0"/>
                </a:solidFill>
                <a:latin typeface="Calibri" pitchFamily="34" charset="0"/>
                <a:ea typeface="Calibri" pitchFamily="34" charset="-122"/>
                <a:cs typeface="Calibri" pitchFamily="34" charset="-120"/>
              </a:rPr>
              <a:t>07  /  11</a:t>
            </a:r>
            <a:endParaRPr lang="en-US" sz="1200" dirty="0"/>
          </a:p>
        </p:txBody>
      </p:sp>
      <p:sp>
        <p:nvSpPr>
          <p:cNvPr id="4" name="Shape 2"/>
          <p:cNvSpPr/>
          <p:nvPr/>
        </p:nvSpPr>
        <p:spPr>
          <a:xfrm>
            <a:off x="548640" y="6355080"/>
            <a:ext cx="11094415" cy="0"/>
          </a:xfrm>
          <a:prstGeom prst="line">
            <a:avLst/>
          </a:prstGeom>
          <a:noFill/>
          <a:ln w="9525">
            <a:solidFill>
              <a:srgbClr val="2A3548"/>
            </a:solidFill>
            <a:prstDash val="solid"/>
          </a:ln>
        </p:spPr>
      </p:sp>
      <p:sp>
        <p:nvSpPr>
          <p:cNvPr id="5" name="Text 3"/>
          <p:cNvSpPr/>
          <p:nvPr/>
        </p:nvSpPr>
        <p:spPr>
          <a:xfrm>
            <a:off x="548640" y="6473952"/>
            <a:ext cx="5669280" cy="256032"/>
          </a:xfrm>
          <a:prstGeom prst="rect">
            <a:avLst/>
          </a:prstGeom>
          <a:noFill/>
          <a:ln/>
        </p:spPr>
        <p:txBody>
          <a:bodyPr wrap="square" lIns="0" tIns="0" rIns="0" bIns="0" rtlCol="0" anchor="ctr"/>
          <a:lstStyle/>
          <a:p>
            <a:pPr indent="0" marL="0">
              <a:buNone/>
            </a:pPr>
            <a:r>
              <a:rPr lang="en-US" sz="1100" dirty="0">
                <a:solidFill>
                  <a:srgbClr val="8590A0"/>
                </a:solidFill>
                <a:latin typeface="Calibri" pitchFamily="34" charset="0"/>
                <a:ea typeface="Calibri" pitchFamily="34" charset="-122"/>
                <a:cs typeface="Calibri" pitchFamily="34" charset="-120"/>
              </a:rPr>
              <a:t>INT2065  ·  GROUP PROJECT</a:t>
            </a:r>
            <a:endParaRPr lang="en-US" sz="1100" dirty="0"/>
          </a:p>
        </p:txBody>
      </p:sp>
      <p:sp>
        <p:nvSpPr>
          <p:cNvPr id="6" name="Text 4"/>
          <p:cNvSpPr/>
          <p:nvPr/>
        </p:nvSpPr>
        <p:spPr>
          <a:xfrm>
            <a:off x="5973775" y="6473952"/>
            <a:ext cx="5669280" cy="256032"/>
          </a:xfrm>
          <a:prstGeom prst="rect">
            <a:avLst/>
          </a:prstGeom>
          <a:noFill/>
          <a:ln/>
        </p:spPr>
        <p:txBody>
          <a:bodyPr wrap="square" lIns="0" tIns="0" rIns="0" bIns="0" rtlCol="0" anchor="ctr"/>
          <a:lstStyle/>
          <a:p>
            <a:pPr algn="r" indent="0" marL="0">
              <a:buNone/>
            </a:pPr>
            <a:r>
              <a:rPr lang="en-US" sz="1100" dirty="0">
                <a:solidFill>
                  <a:srgbClr val="8590A0"/>
                </a:solidFill>
                <a:latin typeface="Calibri" pitchFamily="34" charset="0"/>
                <a:ea typeface="Calibri" pitchFamily="34" charset="-122"/>
                <a:cs typeface="Calibri" pitchFamily="34" charset="-120"/>
              </a:rPr>
              <a:t>CHECKED, THEN SAVED</a:t>
            </a:r>
            <a:endParaRPr lang="en-US" sz="1100" dirty="0"/>
          </a:p>
        </p:txBody>
      </p:sp>
      <p:sp>
        <p:nvSpPr>
          <p:cNvPr id="7" name="Text 5"/>
          <p:cNvSpPr/>
          <p:nvPr/>
        </p:nvSpPr>
        <p:spPr>
          <a:xfrm>
            <a:off x="548640" y="713232"/>
            <a:ext cx="11064240" cy="475488"/>
          </a:xfrm>
          <a:prstGeom prst="rect">
            <a:avLst/>
          </a:prstGeom>
          <a:noFill/>
          <a:ln/>
        </p:spPr>
        <p:txBody>
          <a:bodyPr wrap="square" lIns="0" tIns="0" rIns="0" bIns="0" rtlCol="0" anchor="ctr"/>
          <a:lstStyle/>
          <a:p>
            <a:pPr indent="0" marL="0">
              <a:buNone/>
            </a:pPr>
            <a:r>
              <a:rPr lang="en-US" sz="2800" b="1" dirty="0">
                <a:solidFill>
                  <a:srgbClr val="F4EFE6"/>
                </a:solidFill>
                <a:latin typeface="Calibri" pitchFamily="34" charset="0"/>
                <a:ea typeface="Calibri" pitchFamily="34" charset="-122"/>
                <a:cs typeface="Calibri" pitchFamily="34" charset="-120"/>
              </a:rPr>
              <a:t>The model drafts. The teacher decides.</a:t>
            </a:r>
            <a:endParaRPr lang="en-US" sz="2800" dirty="0"/>
          </a:p>
        </p:txBody>
      </p:sp>
      <p:sp>
        <p:nvSpPr>
          <p:cNvPr id="8" name="Shape 6"/>
          <p:cNvSpPr/>
          <p:nvPr/>
        </p:nvSpPr>
        <p:spPr>
          <a:xfrm>
            <a:off x="548640" y="1554480"/>
            <a:ext cx="3611880" cy="2880360"/>
          </a:xfrm>
          <a:prstGeom prst="rect">
            <a:avLst/>
          </a:prstGeom>
          <a:solidFill>
            <a:srgbClr val="17263A"/>
          </a:solidFill>
          <a:ln/>
        </p:spPr>
      </p:sp>
      <p:sp>
        <p:nvSpPr>
          <p:cNvPr id="9" name="Text 7"/>
          <p:cNvSpPr/>
          <p:nvPr/>
        </p:nvSpPr>
        <p:spPr>
          <a:xfrm>
            <a:off x="749808" y="1719072"/>
            <a:ext cx="3200400" cy="411480"/>
          </a:xfrm>
          <a:prstGeom prst="rect">
            <a:avLst/>
          </a:prstGeom>
          <a:noFill/>
          <a:ln/>
        </p:spPr>
        <p:txBody>
          <a:bodyPr wrap="square" lIns="0" tIns="0" rIns="0" bIns="0" rtlCol="0" anchor="ctr"/>
          <a:lstStyle/>
          <a:p>
            <a:pPr indent="0" marL="0">
              <a:buNone/>
            </a:pPr>
            <a:r>
              <a:rPr lang="en-US" sz="2200" b="1" dirty="0">
                <a:solidFill>
                  <a:srgbClr val="E8624D"/>
                </a:solidFill>
                <a:latin typeface="Calibri" pitchFamily="34" charset="0"/>
                <a:ea typeface="Calibri" pitchFamily="34" charset="-122"/>
                <a:cs typeface="Calibri" pitchFamily="34" charset="-120"/>
              </a:rPr>
              <a:t>1</a:t>
            </a:r>
            <a:endParaRPr lang="en-US" sz="2200" dirty="0"/>
          </a:p>
        </p:txBody>
      </p:sp>
      <p:sp>
        <p:nvSpPr>
          <p:cNvPr id="10" name="Text 8"/>
          <p:cNvSpPr/>
          <p:nvPr/>
        </p:nvSpPr>
        <p:spPr>
          <a:xfrm>
            <a:off x="749808" y="2194560"/>
            <a:ext cx="3200400" cy="411480"/>
          </a:xfrm>
          <a:prstGeom prst="rect">
            <a:avLst/>
          </a:prstGeom>
          <a:noFill/>
          <a:ln/>
        </p:spPr>
        <p:txBody>
          <a:bodyPr wrap="square" lIns="0" tIns="0" rIns="0" bIns="0" rtlCol="0" anchor="ctr"/>
          <a:lstStyle/>
          <a:p>
            <a:pPr indent="0" marL="0">
              <a:buNone/>
            </a:pPr>
            <a:r>
              <a:rPr lang="en-US" sz="2200" b="1" dirty="0">
                <a:solidFill>
                  <a:srgbClr val="F4EFE6"/>
                </a:solidFill>
                <a:latin typeface="Calibri" pitchFamily="34" charset="0"/>
                <a:ea typeface="Calibri" pitchFamily="34" charset="-122"/>
                <a:cs typeface="Calibri" pitchFamily="34" charset="-120"/>
              </a:rPr>
              <a:t>Draft</a:t>
            </a:r>
            <a:endParaRPr lang="en-US" sz="2200" dirty="0"/>
          </a:p>
        </p:txBody>
      </p:sp>
      <p:sp>
        <p:nvSpPr>
          <p:cNvPr id="11" name="Text 9"/>
          <p:cNvSpPr/>
          <p:nvPr/>
        </p:nvSpPr>
        <p:spPr>
          <a:xfrm>
            <a:off x="749808" y="2788920"/>
            <a:ext cx="3200400" cy="1325880"/>
          </a:xfrm>
          <a:prstGeom prst="rect">
            <a:avLst/>
          </a:prstGeom>
          <a:noFill/>
          <a:ln/>
        </p:spPr>
        <p:txBody>
          <a:bodyPr wrap="square" lIns="0" tIns="0" rIns="0" bIns="0" rtlCol="0" anchor="ctr"/>
          <a:lstStyle/>
          <a:p>
            <a:pPr indent="0" marL="0">
              <a:buNone/>
            </a:pPr>
            <a:r>
              <a:rPr lang="en-US" sz="1600" dirty="0">
                <a:solidFill>
                  <a:srgbClr val="F4EFE6"/>
                </a:solidFill>
                <a:latin typeface="Calibri" pitchFamily="34" charset="0"/>
                <a:ea typeface="Calibri" pitchFamily="34" charset="-122"/>
                <a:cs typeface="Calibri" pitchFamily="34" charset="-120"/>
              </a:rPr>
              <a:t>Before the lesson, a generative model may propose one hint sentence for each click.</a:t>
            </a:r>
            <a:endParaRPr lang="en-US" sz="1600" dirty="0"/>
          </a:p>
        </p:txBody>
      </p:sp>
      <p:sp>
        <p:nvSpPr>
          <p:cNvPr id="12" name="Shape 10"/>
          <p:cNvSpPr/>
          <p:nvPr/>
        </p:nvSpPr>
        <p:spPr>
          <a:xfrm>
            <a:off x="4343400" y="1554480"/>
            <a:ext cx="3611880" cy="2880360"/>
          </a:xfrm>
          <a:prstGeom prst="rect">
            <a:avLst/>
          </a:prstGeom>
          <a:solidFill>
            <a:srgbClr val="17263A"/>
          </a:solidFill>
          <a:ln/>
        </p:spPr>
      </p:sp>
      <p:sp>
        <p:nvSpPr>
          <p:cNvPr id="13" name="Text 11"/>
          <p:cNvSpPr/>
          <p:nvPr/>
        </p:nvSpPr>
        <p:spPr>
          <a:xfrm>
            <a:off x="4544568" y="1719072"/>
            <a:ext cx="3200400" cy="411480"/>
          </a:xfrm>
          <a:prstGeom prst="rect">
            <a:avLst/>
          </a:prstGeom>
          <a:noFill/>
          <a:ln/>
        </p:spPr>
        <p:txBody>
          <a:bodyPr wrap="square" lIns="0" tIns="0" rIns="0" bIns="0" rtlCol="0" anchor="ctr"/>
          <a:lstStyle/>
          <a:p>
            <a:pPr indent="0" marL="0">
              <a:buNone/>
            </a:pPr>
            <a:r>
              <a:rPr lang="en-US" sz="2200" b="1" dirty="0">
                <a:solidFill>
                  <a:srgbClr val="E8624D"/>
                </a:solidFill>
                <a:latin typeface="Calibri" pitchFamily="34" charset="0"/>
                <a:ea typeface="Calibri" pitchFamily="34" charset="-122"/>
                <a:cs typeface="Calibri" pitchFamily="34" charset="-120"/>
              </a:rPr>
              <a:t>2</a:t>
            </a:r>
            <a:endParaRPr lang="en-US" sz="2200" dirty="0"/>
          </a:p>
        </p:txBody>
      </p:sp>
      <p:sp>
        <p:nvSpPr>
          <p:cNvPr id="14" name="Text 12"/>
          <p:cNvSpPr/>
          <p:nvPr/>
        </p:nvSpPr>
        <p:spPr>
          <a:xfrm>
            <a:off x="4544568" y="2194560"/>
            <a:ext cx="3200400" cy="411480"/>
          </a:xfrm>
          <a:prstGeom prst="rect">
            <a:avLst/>
          </a:prstGeom>
          <a:noFill/>
          <a:ln/>
        </p:spPr>
        <p:txBody>
          <a:bodyPr wrap="square" lIns="0" tIns="0" rIns="0" bIns="0" rtlCol="0" anchor="ctr"/>
          <a:lstStyle/>
          <a:p>
            <a:pPr indent="0" marL="0">
              <a:buNone/>
            </a:pPr>
            <a:r>
              <a:rPr lang="en-US" sz="2200" b="1" dirty="0">
                <a:solidFill>
                  <a:srgbClr val="F4EFE6"/>
                </a:solidFill>
                <a:latin typeface="Calibri" pitchFamily="34" charset="0"/>
                <a:ea typeface="Calibri" pitchFamily="34" charset="-122"/>
                <a:cs typeface="Calibri" pitchFamily="34" charset="-120"/>
              </a:rPr>
              <a:t>Check</a:t>
            </a:r>
            <a:endParaRPr lang="en-US" sz="2200" dirty="0"/>
          </a:p>
        </p:txBody>
      </p:sp>
      <p:sp>
        <p:nvSpPr>
          <p:cNvPr id="15" name="Text 13"/>
          <p:cNvSpPr/>
          <p:nvPr/>
        </p:nvSpPr>
        <p:spPr>
          <a:xfrm>
            <a:off x="4544568" y="2788920"/>
            <a:ext cx="3200400" cy="1325880"/>
          </a:xfrm>
          <a:prstGeom prst="rect">
            <a:avLst/>
          </a:prstGeom>
          <a:noFill/>
          <a:ln/>
        </p:spPr>
        <p:txBody>
          <a:bodyPr wrap="square" lIns="0" tIns="0" rIns="0" bIns="0" rtlCol="0" anchor="ctr"/>
          <a:lstStyle/>
          <a:p>
            <a:pPr indent="0" marL="0">
              <a:buNone/>
            </a:pPr>
            <a:r>
              <a:rPr lang="en-US" sz="1600" dirty="0">
                <a:solidFill>
                  <a:srgbClr val="F4EFE6"/>
                </a:solidFill>
                <a:latin typeface="Calibri" pitchFamily="34" charset="0"/>
                <a:ea typeface="Calibri" pitchFamily="34" charset="-122"/>
                <a:cs typeface="Calibri" pitchFamily="34" charset="-120"/>
              </a:rPr>
              <a:t>The teacher matches every sentence to the answer tables in the lesson plan.</a:t>
            </a:r>
            <a:endParaRPr lang="en-US" sz="1600" dirty="0"/>
          </a:p>
        </p:txBody>
      </p:sp>
      <p:sp>
        <p:nvSpPr>
          <p:cNvPr id="16" name="Shape 14"/>
          <p:cNvSpPr/>
          <p:nvPr/>
        </p:nvSpPr>
        <p:spPr>
          <a:xfrm>
            <a:off x="8138160" y="1554480"/>
            <a:ext cx="3611880" cy="2880360"/>
          </a:xfrm>
          <a:prstGeom prst="rect">
            <a:avLst/>
          </a:prstGeom>
          <a:solidFill>
            <a:srgbClr val="17263A"/>
          </a:solidFill>
          <a:ln/>
        </p:spPr>
      </p:sp>
      <p:sp>
        <p:nvSpPr>
          <p:cNvPr id="17" name="Text 15"/>
          <p:cNvSpPr/>
          <p:nvPr/>
        </p:nvSpPr>
        <p:spPr>
          <a:xfrm>
            <a:off x="8339328" y="1719072"/>
            <a:ext cx="3200400" cy="411480"/>
          </a:xfrm>
          <a:prstGeom prst="rect">
            <a:avLst/>
          </a:prstGeom>
          <a:noFill/>
          <a:ln/>
        </p:spPr>
        <p:txBody>
          <a:bodyPr wrap="square" lIns="0" tIns="0" rIns="0" bIns="0" rtlCol="0" anchor="ctr"/>
          <a:lstStyle/>
          <a:p>
            <a:pPr indent="0" marL="0">
              <a:buNone/>
            </a:pPr>
            <a:r>
              <a:rPr lang="en-US" sz="2200" b="1" dirty="0">
                <a:solidFill>
                  <a:srgbClr val="E8624D"/>
                </a:solidFill>
                <a:latin typeface="Calibri" pitchFamily="34" charset="0"/>
                <a:ea typeface="Calibri" pitchFamily="34" charset="-122"/>
                <a:cs typeface="Calibri" pitchFamily="34" charset="-120"/>
              </a:rPr>
              <a:t>3</a:t>
            </a:r>
            <a:endParaRPr lang="en-US" sz="2200" dirty="0"/>
          </a:p>
        </p:txBody>
      </p:sp>
      <p:sp>
        <p:nvSpPr>
          <p:cNvPr id="18" name="Text 16"/>
          <p:cNvSpPr/>
          <p:nvPr/>
        </p:nvSpPr>
        <p:spPr>
          <a:xfrm>
            <a:off x="8339328" y="2194560"/>
            <a:ext cx="3200400" cy="411480"/>
          </a:xfrm>
          <a:prstGeom prst="rect">
            <a:avLst/>
          </a:prstGeom>
          <a:noFill/>
          <a:ln/>
        </p:spPr>
        <p:txBody>
          <a:bodyPr wrap="square" lIns="0" tIns="0" rIns="0" bIns="0" rtlCol="0" anchor="ctr"/>
          <a:lstStyle/>
          <a:p>
            <a:pPr indent="0" marL="0">
              <a:buNone/>
            </a:pPr>
            <a:r>
              <a:rPr lang="en-US" sz="2200" b="1" dirty="0">
                <a:solidFill>
                  <a:srgbClr val="F4EFE6"/>
                </a:solidFill>
                <a:latin typeface="Calibri" pitchFamily="34" charset="0"/>
                <a:ea typeface="Calibri" pitchFamily="34" charset="-122"/>
                <a:cs typeface="Calibri" pitchFamily="34" charset="-120"/>
              </a:rPr>
              <a:t>Save</a:t>
            </a:r>
            <a:endParaRPr lang="en-US" sz="2200" dirty="0"/>
          </a:p>
        </p:txBody>
      </p:sp>
      <p:sp>
        <p:nvSpPr>
          <p:cNvPr id="19" name="Text 17"/>
          <p:cNvSpPr/>
          <p:nvPr/>
        </p:nvSpPr>
        <p:spPr>
          <a:xfrm>
            <a:off x="8339328" y="2788920"/>
            <a:ext cx="3200400" cy="1325880"/>
          </a:xfrm>
          <a:prstGeom prst="rect">
            <a:avLst/>
          </a:prstGeom>
          <a:noFill/>
          <a:ln/>
        </p:spPr>
        <p:txBody>
          <a:bodyPr wrap="square" lIns="0" tIns="0" rIns="0" bIns="0" rtlCol="0" anchor="ctr"/>
          <a:lstStyle/>
          <a:p>
            <a:pPr indent="0" marL="0">
              <a:buNone/>
            </a:pPr>
            <a:r>
              <a:rPr lang="en-US" sz="1600" dirty="0">
                <a:solidFill>
                  <a:srgbClr val="F4EFE6"/>
                </a:solidFill>
                <a:latin typeface="Calibri" pitchFamily="34" charset="0"/>
                <a:ea typeface="Calibri" pitchFamily="34" charset="-122"/>
                <a:cs typeface="Calibri" pitchFamily="34" charset="-120"/>
              </a:rPr>
              <a:t>The approved sentence is stored in the page. The lesson does not call a model.</a:t>
            </a:r>
            <a:endParaRPr lang="en-US" sz="1600" dirty="0"/>
          </a:p>
        </p:txBody>
      </p:sp>
      <p:sp>
        <p:nvSpPr>
          <p:cNvPr id="20" name="Text 18"/>
          <p:cNvSpPr/>
          <p:nvPr/>
        </p:nvSpPr>
        <p:spPr>
          <a:xfrm>
            <a:off x="548640" y="4663440"/>
            <a:ext cx="11064240" cy="502920"/>
          </a:xfrm>
          <a:prstGeom prst="rect">
            <a:avLst/>
          </a:prstGeom>
          <a:noFill/>
          <a:ln/>
        </p:spPr>
        <p:txBody>
          <a:bodyPr wrap="square" lIns="0" tIns="0" rIns="0" bIns="0" rtlCol="0" anchor="ctr"/>
          <a:lstStyle/>
          <a:p>
            <a:pPr indent="0" marL="0">
              <a:buNone/>
            </a:pPr>
            <a:r>
              <a:rPr lang="en-US" sz="1600" dirty="0">
                <a:solidFill>
                  <a:srgbClr val="F4EFE6"/>
                </a:solidFill>
                <a:latin typeface="Calibri" pitchFamily="34" charset="0"/>
                <a:ea typeface="Calibri" pitchFamily="34" charset="-122"/>
                <a:cs typeface="Calibri" pitchFamily="34" charset="-120"/>
              </a:rPr>
              <a:t>A hint asks a question. It does not print the next number, so it cannot be copied into the yellow cell.</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EFE6"/>
        </a:solidFill>
      </p:bgPr>
    </p:bg>
    <p:spTree>
      <p:nvGrpSpPr>
        <p:cNvPr id="1" name=""/>
        <p:cNvGrpSpPr/>
        <p:nvPr/>
      </p:nvGrpSpPr>
      <p:grpSpPr>
        <a:xfrm>
          <a:off x="0" y="0"/>
          <a:ext cx="0" cy="0"/>
          <a:chOff x="0" y="0"/>
          <a:chExt cx="0" cy="0"/>
        </a:xfrm>
      </p:grpSpPr>
      <p:sp>
        <p:nvSpPr>
          <p:cNvPr id="2" name="Text 0"/>
          <p:cNvSpPr/>
          <p:nvPr/>
        </p:nvSpPr>
        <p:spPr>
          <a:xfrm>
            <a:off x="548640" y="347472"/>
            <a:ext cx="8412480" cy="292608"/>
          </a:xfrm>
          <a:prstGeom prst="rect">
            <a:avLst/>
          </a:prstGeom>
          <a:noFill/>
          <a:ln/>
        </p:spPr>
        <p:txBody>
          <a:bodyPr wrap="square" lIns="0" tIns="0" rIns="0" bIns="0" rtlCol="0" anchor="ctr"/>
          <a:lstStyle/>
          <a:p>
            <a:pPr indent="0" marL="0">
              <a:buNone/>
            </a:pPr>
            <a:r>
              <a:rPr lang="en-US" sz="1200" spc="220" kern="0" dirty="0">
                <a:solidFill>
                  <a:srgbClr val="5C6470"/>
                </a:solidFill>
                <a:latin typeface="Calibri" pitchFamily="34" charset="0"/>
                <a:ea typeface="Calibri" pitchFamily="34" charset="-122"/>
                <a:cs typeface="Calibri" pitchFamily="34" charset="-120"/>
              </a:rPr>
              <a:t>08    ·    MEMBER C    ·    SYSTEM DESIGN</a:t>
            </a:r>
            <a:endParaRPr lang="en-US" sz="1200" dirty="0"/>
          </a:p>
        </p:txBody>
      </p:sp>
      <p:sp>
        <p:nvSpPr>
          <p:cNvPr id="3" name="Text 1"/>
          <p:cNvSpPr/>
          <p:nvPr/>
        </p:nvSpPr>
        <p:spPr>
          <a:xfrm>
            <a:off x="10271455" y="347472"/>
            <a:ext cx="1371600" cy="292608"/>
          </a:xfrm>
          <a:prstGeom prst="rect">
            <a:avLst/>
          </a:prstGeom>
          <a:noFill/>
          <a:ln/>
        </p:spPr>
        <p:txBody>
          <a:bodyPr wrap="square" lIns="0" tIns="0" rIns="0" bIns="0" rtlCol="0" anchor="ctr"/>
          <a:lstStyle/>
          <a:p>
            <a:pPr algn="r" indent="0" marL="0">
              <a:buNone/>
            </a:pPr>
            <a:r>
              <a:rPr lang="en-US" sz="1200" dirty="0">
                <a:solidFill>
                  <a:srgbClr val="5C6470"/>
                </a:solidFill>
                <a:latin typeface="Calibri" pitchFamily="34" charset="0"/>
                <a:ea typeface="Calibri" pitchFamily="34" charset="-122"/>
                <a:cs typeface="Calibri" pitchFamily="34" charset="-120"/>
              </a:rPr>
              <a:t>08  /  11</a:t>
            </a:r>
            <a:endParaRPr lang="en-US" sz="1200" dirty="0"/>
          </a:p>
        </p:txBody>
      </p:sp>
      <p:sp>
        <p:nvSpPr>
          <p:cNvPr id="4" name="Shape 2"/>
          <p:cNvSpPr/>
          <p:nvPr/>
        </p:nvSpPr>
        <p:spPr>
          <a:xfrm>
            <a:off x="548640" y="6355080"/>
            <a:ext cx="11094415" cy="0"/>
          </a:xfrm>
          <a:prstGeom prst="line">
            <a:avLst/>
          </a:prstGeom>
          <a:noFill/>
          <a:ln w="9525">
            <a:solidFill>
              <a:srgbClr val="C9C0B2"/>
            </a:solidFill>
            <a:prstDash val="solid"/>
          </a:ln>
        </p:spPr>
      </p:sp>
      <p:sp>
        <p:nvSpPr>
          <p:cNvPr id="5" name="Text 3"/>
          <p:cNvSpPr/>
          <p:nvPr/>
        </p:nvSpPr>
        <p:spPr>
          <a:xfrm>
            <a:off x="548640" y="6473952"/>
            <a:ext cx="5669280" cy="256032"/>
          </a:xfrm>
          <a:prstGeom prst="rect">
            <a:avLst/>
          </a:prstGeom>
          <a:noFill/>
          <a:ln/>
        </p:spPr>
        <p:txBody>
          <a:bodyPr wrap="square" lIns="0" tIns="0" rIns="0" bIns="0" rtlCol="0" anchor="ctr"/>
          <a:lstStyle/>
          <a:p>
            <a:pPr indent="0" marL="0">
              <a:buNone/>
            </a:pPr>
            <a:r>
              <a:rPr lang="en-US" sz="1100" dirty="0">
                <a:solidFill>
                  <a:srgbClr val="5C6470"/>
                </a:solidFill>
                <a:latin typeface="Calibri" pitchFamily="34" charset="0"/>
                <a:ea typeface="Calibri" pitchFamily="34" charset="-122"/>
                <a:cs typeface="Calibri" pitchFamily="34" charset="-120"/>
              </a:rPr>
              <a:t>INT2065  ·  GROUP PROJECT</a:t>
            </a:r>
            <a:endParaRPr lang="en-US" sz="1100" dirty="0"/>
          </a:p>
        </p:txBody>
      </p:sp>
      <p:sp>
        <p:nvSpPr>
          <p:cNvPr id="6" name="Text 4"/>
          <p:cNvSpPr/>
          <p:nvPr/>
        </p:nvSpPr>
        <p:spPr>
          <a:xfrm>
            <a:off x="5973775" y="6473952"/>
            <a:ext cx="5669280" cy="256032"/>
          </a:xfrm>
          <a:prstGeom prst="rect">
            <a:avLst/>
          </a:prstGeom>
          <a:noFill/>
          <a:ln/>
        </p:spPr>
        <p:txBody>
          <a:bodyPr wrap="square" lIns="0" tIns="0" rIns="0" bIns="0" rtlCol="0" anchor="ctr"/>
          <a:lstStyle/>
          <a:p>
            <a:pPr algn="r" indent="0" marL="0">
              <a:buNone/>
            </a:pPr>
            <a:r>
              <a:rPr lang="en-US" sz="1100" dirty="0">
                <a:solidFill>
                  <a:srgbClr val="5C6470"/>
                </a:solidFill>
                <a:latin typeface="Calibri" pitchFamily="34" charset="0"/>
                <a:ea typeface="Calibri" pitchFamily="34" charset="-122"/>
                <a:cs typeface="Calibri" pitchFamily="34" charset="-120"/>
              </a:rPr>
              <a:t>ONE CLICK, ONE CHANGE</a:t>
            </a:r>
            <a:endParaRPr lang="en-US" sz="1100" dirty="0"/>
          </a:p>
        </p:txBody>
      </p:sp>
      <p:sp>
        <p:nvSpPr>
          <p:cNvPr id="7" name="Text 5"/>
          <p:cNvSpPr/>
          <p:nvPr/>
        </p:nvSpPr>
        <p:spPr>
          <a:xfrm>
            <a:off x="548640" y="713232"/>
            <a:ext cx="11064240" cy="475488"/>
          </a:xfrm>
          <a:prstGeom prst="rect">
            <a:avLst/>
          </a:prstGeom>
          <a:noFill/>
          <a:ln/>
        </p:spPr>
        <p:txBody>
          <a:bodyPr wrap="square" lIns="0" tIns="0" rIns="0" bIns="0" rtlCol="0" anchor="ctr"/>
          <a:lstStyle/>
          <a:p>
            <a:pPr indent="0" marL="0">
              <a:buNone/>
            </a:pPr>
            <a:r>
              <a:rPr lang="en-US" sz="2800" b="1" dirty="0">
                <a:solidFill>
                  <a:srgbClr val="16263D"/>
                </a:solidFill>
                <a:latin typeface="Calibri" pitchFamily="34" charset="0"/>
                <a:ea typeface="Calibri" pitchFamily="34" charset="-122"/>
                <a:cs typeface="Calibri" pitchFamily="34" charset="-120"/>
              </a:rPr>
              <a:t>What the teacher operates</a:t>
            </a:r>
            <a:endParaRPr lang="en-US" sz="2800" dirty="0"/>
          </a:p>
        </p:txBody>
      </p:sp>
      <p:sp>
        <p:nvSpPr>
          <p:cNvPr id="8" name="Text 6"/>
          <p:cNvSpPr/>
          <p:nvPr/>
        </p:nvSpPr>
        <p:spPr>
          <a:xfrm>
            <a:off x="548640" y="1417320"/>
            <a:ext cx="2103120" cy="640080"/>
          </a:xfrm>
          <a:prstGeom prst="rect">
            <a:avLst/>
          </a:prstGeom>
          <a:noFill/>
          <a:ln/>
        </p:spPr>
        <p:txBody>
          <a:bodyPr wrap="square" lIns="0" tIns="0" rIns="0" bIns="0" rtlCol="0" anchor="ctr"/>
          <a:lstStyle/>
          <a:p>
            <a:pPr indent="0" marL="0">
              <a:buNone/>
            </a:pPr>
            <a:r>
              <a:rPr lang="en-US" sz="1600" b="1" dirty="0">
                <a:solidFill>
                  <a:srgbClr val="E8624D"/>
                </a:solidFill>
                <a:latin typeface="Calibri" pitchFamily="34" charset="0"/>
                <a:ea typeface="Calibri" pitchFamily="34" charset="-122"/>
                <a:cs typeface="Calibri" pitchFamily="34" charset="-120"/>
              </a:rPr>
              <a:t>Page</a:t>
            </a:r>
            <a:endParaRPr lang="en-US" sz="1600" dirty="0"/>
          </a:p>
        </p:txBody>
      </p:sp>
      <p:sp>
        <p:nvSpPr>
          <p:cNvPr id="9" name="Text 7"/>
          <p:cNvSpPr/>
          <p:nvPr/>
        </p:nvSpPr>
        <p:spPr>
          <a:xfrm>
            <a:off x="2697480" y="1417320"/>
            <a:ext cx="8869680" cy="640080"/>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One HTML file. Open it in a browser. Nothing is installed and nothing is sent online.</a:t>
            </a:r>
            <a:endParaRPr lang="en-US" sz="1600" dirty="0"/>
          </a:p>
        </p:txBody>
      </p:sp>
      <p:sp>
        <p:nvSpPr>
          <p:cNvPr id="10" name="Text 8"/>
          <p:cNvSpPr/>
          <p:nvPr/>
        </p:nvSpPr>
        <p:spPr>
          <a:xfrm>
            <a:off x="548640" y="2194560"/>
            <a:ext cx="2103120" cy="640080"/>
          </a:xfrm>
          <a:prstGeom prst="rect">
            <a:avLst/>
          </a:prstGeom>
          <a:noFill/>
          <a:ln/>
        </p:spPr>
        <p:txBody>
          <a:bodyPr wrap="square" lIns="0" tIns="0" rIns="0" bIns="0" rtlCol="0" anchor="ctr"/>
          <a:lstStyle/>
          <a:p>
            <a:pPr indent="0" marL="0">
              <a:buNone/>
            </a:pPr>
            <a:r>
              <a:rPr lang="en-US" sz="1600" b="1" dirty="0">
                <a:solidFill>
                  <a:srgbClr val="E8624D"/>
                </a:solidFill>
                <a:latin typeface="Calibri" pitchFamily="34" charset="0"/>
                <a:ea typeface="Calibri" pitchFamily="34" charset="-122"/>
                <a:cs typeface="Calibri" pitchFamily="34" charset="-120"/>
              </a:rPr>
              <a:t>Modes</a:t>
            </a:r>
            <a:endParaRPr lang="en-US" sz="1600" dirty="0"/>
          </a:p>
        </p:txBody>
      </p:sp>
      <p:sp>
        <p:nvSpPr>
          <p:cNvPr id="11" name="Text 9"/>
          <p:cNvSpPr/>
          <p:nvPr/>
        </p:nvSpPr>
        <p:spPr>
          <a:xfrm>
            <a:off x="2697480" y="2194560"/>
            <a:ext cx="8869680" cy="640080"/>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Stack, Queue, Linked list. Switching mode returns to the start of that trace.</a:t>
            </a:r>
            <a:endParaRPr lang="en-US" sz="1600" dirty="0"/>
          </a:p>
        </p:txBody>
      </p:sp>
      <p:sp>
        <p:nvSpPr>
          <p:cNvPr id="12" name="Text 10"/>
          <p:cNvSpPr/>
          <p:nvPr/>
        </p:nvSpPr>
        <p:spPr>
          <a:xfrm>
            <a:off x="548640" y="2971800"/>
            <a:ext cx="2103120" cy="640080"/>
          </a:xfrm>
          <a:prstGeom prst="rect">
            <a:avLst/>
          </a:prstGeom>
          <a:noFill/>
          <a:ln/>
        </p:spPr>
        <p:txBody>
          <a:bodyPr wrap="square" lIns="0" tIns="0" rIns="0" bIns="0" rtlCol="0" anchor="ctr"/>
          <a:lstStyle/>
          <a:p>
            <a:pPr indent="0" marL="0">
              <a:buNone/>
            </a:pPr>
            <a:r>
              <a:rPr lang="en-US" sz="1600" b="1" dirty="0">
                <a:solidFill>
                  <a:srgbClr val="E8624D"/>
                </a:solidFill>
                <a:latin typeface="Calibri" pitchFamily="34" charset="0"/>
                <a:ea typeface="Calibri" pitchFamily="34" charset="-122"/>
                <a:cs typeface="Calibri" pitchFamily="34" charset="-120"/>
              </a:rPr>
              <a:t>Next</a:t>
            </a:r>
            <a:endParaRPr lang="en-US" sz="1600" dirty="0"/>
          </a:p>
        </p:txBody>
      </p:sp>
      <p:sp>
        <p:nvSpPr>
          <p:cNvPr id="13" name="Text 11"/>
          <p:cNvSpPr/>
          <p:nvPr/>
        </p:nvSpPr>
        <p:spPr>
          <a:xfrm>
            <a:off x="2697480" y="2971800"/>
            <a:ext cx="8869680" cy="640080"/>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Reveals either a pointer or one cell. Amber marks what just changed.</a:t>
            </a:r>
            <a:endParaRPr lang="en-US" sz="1600" dirty="0"/>
          </a:p>
        </p:txBody>
      </p:sp>
      <p:sp>
        <p:nvSpPr>
          <p:cNvPr id="14" name="Text 12"/>
          <p:cNvSpPr/>
          <p:nvPr/>
        </p:nvSpPr>
        <p:spPr>
          <a:xfrm>
            <a:off x="548640" y="3749040"/>
            <a:ext cx="2103120" cy="640080"/>
          </a:xfrm>
          <a:prstGeom prst="rect">
            <a:avLst/>
          </a:prstGeom>
          <a:noFill/>
          <a:ln/>
        </p:spPr>
        <p:txBody>
          <a:bodyPr wrap="square" lIns="0" tIns="0" rIns="0" bIns="0" rtlCol="0" anchor="ctr"/>
          <a:lstStyle/>
          <a:p>
            <a:pPr indent="0" marL="0">
              <a:buNone/>
            </a:pPr>
            <a:r>
              <a:rPr lang="en-US" sz="1600" b="1" dirty="0">
                <a:solidFill>
                  <a:srgbClr val="E8624D"/>
                </a:solidFill>
                <a:latin typeface="Calibri" pitchFamily="34" charset="0"/>
                <a:ea typeface="Calibri" pitchFamily="34" charset="-122"/>
                <a:cs typeface="Calibri" pitchFamily="34" charset="-120"/>
              </a:rPr>
              <a:t>Back / Reset</a:t>
            </a:r>
            <a:endParaRPr lang="en-US" sz="1600" dirty="0"/>
          </a:p>
        </p:txBody>
      </p:sp>
      <p:sp>
        <p:nvSpPr>
          <p:cNvPr id="15" name="Text 13"/>
          <p:cNvSpPr/>
          <p:nvPr/>
        </p:nvSpPr>
        <p:spPr>
          <a:xfrm>
            <a:off x="2697480" y="3749040"/>
            <a:ext cx="8869680" cy="640080"/>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Back undoes one change. Reset returns to the start. Hint closes when the step changes.</a:t>
            </a:r>
            <a:endParaRPr lang="en-US" sz="1600" dirty="0"/>
          </a:p>
        </p:txBody>
      </p:sp>
      <p:sp>
        <p:nvSpPr>
          <p:cNvPr id="16" name="Shape 14"/>
          <p:cNvSpPr/>
          <p:nvPr/>
        </p:nvSpPr>
        <p:spPr>
          <a:xfrm>
            <a:off x="548640" y="4617720"/>
            <a:ext cx="11109960" cy="914400"/>
          </a:xfrm>
          <a:prstGeom prst="rect">
            <a:avLst/>
          </a:prstGeom>
          <a:solidFill>
            <a:srgbClr val="0F1B2D"/>
          </a:solidFill>
          <a:ln/>
        </p:spPr>
      </p:sp>
      <p:sp>
        <p:nvSpPr>
          <p:cNvPr id="17" name="Text 15"/>
          <p:cNvSpPr/>
          <p:nvPr/>
        </p:nvSpPr>
        <p:spPr>
          <a:xfrm>
            <a:off x="731520" y="4709160"/>
            <a:ext cx="10744200" cy="731520"/>
          </a:xfrm>
          <a:prstGeom prst="rect">
            <a:avLst/>
          </a:prstGeom>
          <a:noFill/>
          <a:ln/>
        </p:spPr>
        <p:txBody>
          <a:bodyPr wrap="square" lIns="0" tIns="0" rIns="0" bIns="0" rtlCol="0" anchor="ctr"/>
          <a:lstStyle/>
          <a:p>
            <a:pPr indent="0" marL="0">
              <a:buNone/>
            </a:pPr>
            <a:r>
              <a:rPr lang="en-US" sz="1600" dirty="0">
                <a:solidFill>
                  <a:srgbClr val="F4EFE6"/>
                </a:solidFill>
                <a:latin typeface="Calibri" pitchFamily="34" charset="0"/>
                <a:ea typeface="Calibri" pitchFamily="34" charset="-122"/>
                <a:cs typeface="Calibri" pitchFamily="34" charset="-120"/>
              </a:rPr>
              <a:t>Stack and queue: two clicks for one worksheet row — the pointer, then the value.    List: DATA[3], then NEXT[3], then NEXT[1].</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FE6"/>
        </a:solidFill>
      </p:bgPr>
    </p:bg>
    <p:spTree>
      <p:nvGrpSpPr>
        <p:cNvPr id="1" name=""/>
        <p:cNvGrpSpPr/>
        <p:nvPr/>
      </p:nvGrpSpPr>
      <p:grpSpPr>
        <a:xfrm>
          <a:off x="0" y="0"/>
          <a:ext cx="0" cy="0"/>
          <a:chOff x="0" y="0"/>
          <a:chExt cx="0" cy="0"/>
        </a:xfrm>
      </p:grpSpPr>
      <p:sp>
        <p:nvSpPr>
          <p:cNvPr id="2" name="Text 0"/>
          <p:cNvSpPr/>
          <p:nvPr/>
        </p:nvSpPr>
        <p:spPr>
          <a:xfrm>
            <a:off x="548640" y="347472"/>
            <a:ext cx="8412480" cy="292608"/>
          </a:xfrm>
          <a:prstGeom prst="rect">
            <a:avLst/>
          </a:prstGeom>
          <a:noFill/>
          <a:ln/>
        </p:spPr>
        <p:txBody>
          <a:bodyPr wrap="square" lIns="0" tIns="0" rIns="0" bIns="0" rtlCol="0" anchor="ctr"/>
          <a:lstStyle/>
          <a:p>
            <a:pPr indent="0" marL="0">
              <a:buNone/>
            </a:pPr>
            <a:r>
              <a:rPr lang="en-US" sz="1200" spc="220" kern="0" dirty="0">
                <a:solidFill>
                  <a:srgbClr val="5C6470"/>
                </a:solidFill>
                <a:latin typeface="Calibri" pitchFamily="34" charset="0"/>
                <a:ea typeface="Calibri" pitchFamily="34" charset="-122"/>
                <a:cs typeface="Calibri" pitchFamily="34" charset="-120"/>
              </a:rPr>
              <a:t>09    ·    MEMBER D    ·    VALUE AND FEASIBILITY</a:t>
            </a:r>
            <a:endParaRPr lang="en-US" sz="1200" dirty="0"/>
          </a:p>
        </p:txBody>
      </p:sp>
      <p:sp>
        <p:nvSpPr>
          <p:cNvPr id="3" name="Text 1"/>
          <p:cNvSpPr/>
          <p:nvPr/>
        </p:nvSpPr>
        <p:spPr>
          <a:xfrm>
            <a:off x="10271455" y="347472"/>
            <a:ext cx="1371600" cy="292608"/>
          </a:xfrm>
          <a:prstGeom prst="rect">
            <a:avLst/>
          </a:prstGeom>
          <a:noFill/>
          <a:ln/>
        </p:spPr>
        <p:txBody>
          <a:bodyPr wrap="square" lIns="0" tIns="0" rIns="0" bIns="0" rtlCol="0" anchor="ctr"/>
          <a:lstStyle/>
          <a:p>
            <a:pPr algn="r" indent="0" marL="0">
              <a:buNone/>
            </a:pPr>
            <a:r>
              <a:rPr lang="en-US" sz="1200" dirty="0">
                <a:solidFill>
                  <a:srgbClr val="5C6470"/>
                </a:solidFill>
                <a:latin typeface="Calibri" pitchFamily="34" charset="0"/>
                <a:ea typeface="Calibri" pitchFamily="34" charset="-122"/>
                <a:cs typeface="Calibri" pitchFamily="34" charset="-120"/>
              </a:rPr>
              <a:t>09  /  11</a:t>
            </a:r>
            <a:endParaRPr lang="en-US" sz="1200" dirty="0"/>
          </a:p>
        </p:txBody>
      </p:sp>
      <p:sp>
        <p:nvSpPr>
          <p:cNvPr id="4" name="Shape 2"/>
          <p:cNvSpPr/>
          <p:nvPr/>
        </p:nvSpPr>
        <p:spPr>
          <a:xfrm>
            <a:off x="548640" y="6355080"/>
            <a:ext cx="11094415" cy="0"/>
          </a:xfrm>
          <a:prstGeom prst="line">
            <a:avLst/>
          </a:prstGeom>
          <a:noFill/>
          <a:ln w="9525">
            <a:solidFill>
              <a:srgbClr val="C9C0B2"/>
            </a:solidFill>
            <a:prstDash val="solid"/>
          </a:ln>
        </p:spPr>
      </p:sp>
      <p:sp>
        <p:nvSpPr>
          <p:cNvPr id="5" name="Text 3"/>
          <p:cNvSpPr/>
          <p:nvPr/>
        </p:nvSpPr>
        <p:spPr>
          <a:xfrm>
            <a:off x="548640" y="6473952"/>
            <a:ext cx="5669280" cy="256032"/>
          </a:xfrm>
          <a:prstGeom prst="rect">
            <a:avLst/>
          </a:prstGeom>
          <a:noFill/>
          <a:ln/>
        </p:spPr>
        <p:txBody>
          <a:bodyPr wrap="square" lIns="0" tIns="0" rIns="0" bIns="0" rtlCol="0" anchor="ctr"/>
          <a:lstStyle/>
          <a:p>
            <a:pPr indent="0" marL="0">
              <a:buNone/>
            </a:pPr>
            <a:r>
              <a:rPr lang="en-US" sz="1100" dirty="0">
                <a:solidFill>
                  <a:srgbClr val="5C6470"/>
                </a:solidFill>
                <a:latin typeface="Calibri" pitchFamily="34" charset="0"/>
                <a:ea typeface="Calibri" pitchFamily="34" charset="-122"/>
                <a:cs typeface="Calibri" pitchFamily="34" charset="-120"/>
              </a:rPr>
              <a:t>INT2065  ·  GROUP PROJECT</a:t>
            </a:r>
            <a:endParaRPr lang="en-US" sz="1100" dirty="0"/>
          </a:p>
        </p:txBody>
      </p:sp>
      <p:sp>
        <p:nvSpPr>
          <p:cNvPr id="6" name="Text 4"/>
          <p:cNvSpPr/>
          <p:nvPr/>
        </p:nvSpPr>
        <p:spPr>
          <a:xfrm>
            <a:off x="5973775" y="6473952"/>
            <a:ext cx="5669280" cy="256032"/>
          </a:xfrm>
          <a:prstGeom prst="rect">
            <a:avLst/>
          </a:prstGeom>
          <a:noFill/>
          <a:ln/>
        </p:spPr>
        <p:txBody>
          <a:bodyPr wrap="square" lIns="0" tIns="0" rIns="0" bIns="0" rtlCol="0" anchor="ctr"/>
          <a:lstStyle/>
          <a:p>
            <a:pPr algn="r" indent="0" marL="0">
              <a:buNone/>
            </a:pPr>
            <a:r>
              <a:rPr lang="en-US" sz="1100" dirty="0">
                <a:solidFill>
                  <a:srgbClr val="5C6470"/>
                </a:solidFill>
                <a:latin typeface="Calibri" pitchFamily="34" charset="0"/>
                <a:ea typeface="Calibri" pitchFamily="34" charset="-122"/>
                <a:cs typeface="Calibri" pitchFamily="34" charset="-120"/>
              </a:rPr>
              <a:t>ONE PROJECTOR</a:t>
            </a:r>
            <a:endParaRPr lang="en-US" sz="1100" dirty="0"/>
          </a:p>
        </p:txBody>
      </p:sp>
      <p:sp>
        <p:nvSpPr>
          <p:cNvPr id="7" name="Text 5"/>
          <p:cNvSpPr/>
          <p:nvPr/>
        </p:nvSpPr>
        <p:spPr>
          <a:xfrm>
            <a:off x="548640" y="713232"/>
            <a:ext cx="11064240" cy="475488"/>
          </a:xfrm>
          <a:prstGeom prst="rect">
            <a:avLst/>
          </a:prstGeom>
          <a:noFill/>
          <a:ln/>
        </p:spPr>
        <p:txBody>
          <a:bodyPr wrap="square" lIns="0" tIns="0" rIns="0" bIns="0" rtlCol="0" anchor="ctr"/>
          <a:lstStyle/>
          <a:p>
            <a:pPr indent="0" marL="0">
              <a:buNone/>
            </a:pPr>
            <a:r>
              <a:rPr lang="en-US" sz="2800" b="1" dirty="0">
                <a:solidFill>
                  <a:srgbClr val="16263D"/>
                </a:solidFill>
                <a:latin typeface="Calibri" pitchFamily="34" charset="0"/>
                <a:ea typeface="Calibri" pitchFamily="34" charset="-122"/>
                <a:cs typeface="Calibri" pitchFamily="34" charset="-120"/>
              </a:rPr>
              <a:t>Why the lesson is worth giving</a:t>
            </a:r>
            <a:endParaRPr lang="en-US" sz="2800" dirty="0"/>
          </a:p>
        </p:txBody>
      </p:sp>
      <p:sp>
        <p:nvSpPr>
          <p:cNvPr id="8" name="Shape 6"/>
          <p:cNvSpPr/>
          <p:nvPr/>
        </p:nvSpPr>
        <p:spPr>
          <a:xfrm>
            <a:off x="548640" y="1463040"/>
            <a:ext cx="5486400" cy="4160520"/>
          </a:xfrm>
          <a:prstGeom prst="rect">
            <a:avLst/>
          </a:prstGeom>
          <a:solidFill>
            <a:srgbClr val="FFFFFF"/>
          </a:solidFill>
          <a:ln w="12700">
            <a:solidFill>
              <a:srgbClr val="C9C0B2"/>
            </a:solidFill>
            <a:prstDash val="solid"/>
          </a:ln>
        </p:spPr>
      </p:sp>
      <p:sp>
        <p:nvSpPr>
          <p:cNvPr id="9" name="Shape 7"/>
          <p:cNvSpPr/>
          <p:nvPr/>
        </p:nvSpPr>
        <p:spPr>
          <a:xfrm>
            <a:off x="6217920" y="1463040"/>
            <a:ext cx="5440680" cy="4160520"/>
          </a:xfrm>
          <a:prstGeom prst="rect">
            <a:avLst/>
          </a:prstGeom>
          <a:solidFill>
            <a:srgbClr val="FFFFFF"/>
          </a:solidFill>
          <a:ln w="12700">
            <a:solidFill>
              <a:srgbClr val="C9C0B2"/>
            </a:solidFill>
            <a:prstDash val="solid"/>
          </a:ln>
        </p:spPr>
      </p:sp>
      <p:sp>
        <p:nvSpPr>
          <p:cNvPr id="10" name="Shape 8"/>
          <p:cNvSpPr/>
          <p:nvPr/>
        </p:nvSpPr>
        <p:spPr>
          <a:xfrm>
            <a:off x="548640" y="1463040"/>
            <a:ext cx="5486400" cy="91440"/>
          </a:xfrm>
          <a:prstGeom prst="rect">
            <a:avLst/>
          </a:prstGeom>
          <a:solidFill>
            <a:srgbClr val="E8624D"/>
          </a:solidFill>
          <a:ln/>
        </p:spPr>
      </p:sp>
      <p:sp>
        <p:nvSpPr>
          <p:cNvPr id="11" name="Shape 9"/>
          <p:cNvSpPr/>
          <p:nvPr/>
        </p:nvSpPr>
        <p:spPr>
          <a:xfrm>
            <a:off x="6217920" y="1463040"/>
            <a:ext cx="5440680" cy="91440"/>
          </a:xfrm>
          <a:prstGeom prst="rect">
            <a:avLst/>
          </a:prstGeom>
          <a:solidFill>
            <a:srgbClr val="0F1B2D"/>
          </a:solidFill>
          <a:ln/>
        </p:spPr>
      </p:sp>
      <p:sp>
        <p:nvSpPr>
          <p:cNvPr id="12" name="Text 10"/>
          <p:cNvSpPr/>
          <p:nvPr/>
        </p:nvSpPr>
        <p:spPr>
          <a:xfrm>
            <a:off x="777240" y="1737360"/>
            <a:ext cx="5029200" cy="365760"/>
          </a:xfrm>
          <a:prstGeom prst="rect">
            <a:avLst/>
          </a:prstGeom>
          <a:noFill/>
          <a:ln/>
        </p:spPr>
        <p:txBody>
          <a:bodyPr wrap="square" lIns="0" tIns="0" rIns="0" bIns="0" rtlCol="0" anchor="ctr"/>
          <a:lstStyle/>
          <a:p>
            <a:pPr indent="0" marL="0">
              <a:buNone/>
            </a:pPr>
            <a:r>
              <a:rPr lang="en-US" sz="2000" b="1" dirty="0">
                <a:solidFill>
                  <a:srgbClr val="16263D"/>
                </a:solidFill>
                <a:latin typeface="Calibri" pitchFamily="34" charset="0"/>
                <a:ea typeface="Calibri" pitchFamily="34" charset="-122"/>
                <a:cs typeface="Calibri" pitchFamily="34" charset="-120"/>
              </a:rPr>
              <a:t>Educational value</a:t>
            </a:r>
            <a:endParaRPr lang="en-US" sz="2000" dirty="0"/>
          </a:p>
        </p:txBody>
      </p:sp>
      <p:sp>
        <p:nvSpPr>
          <p:cNvPr id="13" name="Text 11"/>
          <p:cNvSpPr/>
          <p:nvPr/>
        </p:nvSpPr>
        <p:spPr>
          <a:xfrm>
            <a:off x="777240" y="2331720"/>
            <a:ext cx="4983480" cy="822960"/>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Students watch one index move, then account for it in writing.</a:t>
            </a:r>
            <a:endParaRPr lang="en-US" sz="1600" dirty="0"/>
          </a:p>
        </p:txBody>
      </p:sp>
      <p:sp>
        <p:nvSpPr>
          <p:cNvPr id="14" name="Text 12"/>
          <p:cNvSpPr/>
          <p:nvPr/>
        </p:nvSpPr>
        <p:spPr>
          <a:xfrm>
            <a:off x="777240" y="3291840"/>
            <a:ext cx="4983480" cy="822960"/>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The plan, the sheet and the page cannot drift apart: one example.</a:t>
            </a:r>
            <a:endParaRPr lang="en-US" sz="1600" dirty="0"/>
          </a:p>
        </p:txBody>
      </p:sp>
      <p:sp>
        <p:nvSpPr>
          <p:cNvPr id="15" name="Text 13"/>
          <p:cNvSpPr/>
          <p:nvPr/>
        </p:nvSpPr>
        <p:spPr>
          <a:xfrm>
            <a:off x="777240" y="4251960"/>
            <a:ext cx="4983480" cy="822960"/>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The collected sheet shows the trace. The page is not the assessment.</a:t>
            </a:r>
            <a:endParaRPr lang="en-US" sz="1600" dirty="0"/>
          </a:p>
        </p:txBody>
      </p:sp>
      <p:sp>
        <p:nvSpPr>
          <p:cNvPr id="16" name="Text 14"/>
          <p:cNvSpPr/>
          <p:nvPr/>
        </p:nvSpPr>
        <p:spPr>
          <a:xfrm>
            <a:off x="6446520" y="1737360"/>
            <a:ext cx="4983480" cy="365760"/>
          </a:xfrm>
          <a:prstGeom prst="rect">
            <a:avLst/>
          </a:prstGeom>
          <a:noFill/>
          <a:ln/>
        </p:spPr>
        <p:txBody>
          <a:bodyPr wrap="square" lIns="0" tIns="0" rIns="0" bIns="0" rtlCol="0" anchor="ctr"/>
          <a:lstStyle/>
          <a:p>
            <a:pPr indent="0" marL="0">
              <a:buNone/>
            </a:pPr>
            <a:r>
              <a:rPr lang="en-US" sz="2000" b="1" dirty="0">
                <a:solidFill>
                  <a:srgbClr val="16263D"/>
                </a:solidFill>
                <a:latin typeface="Calibri" pitchFamily="34" charset="0"/>
                <a:ea typeface="Calibri" pitchFamily="34" charset="-122"/>
                <a:cs typeface="Calibri" pitchFamily="34" charset="-120"/>
              </a:rPr>
              <a:t>Feasibility</a:t>
            </a:r>
            <a:endParaRPr lang="en-US" sz="2000" dirty="0"/>
          </a:p>
        </p:txBody>
      </p:sp>
      <p:sp>
        <p:nvSpPr>
          <p:cNvPr id="17" name="Text 15"/>
          <p:cNvSpPr/>
          <p:nvPr/>
        </p:nvSpPr>
        <p:spPr>
          <a:xfrm>
            <a:off x="6446520" y="2331720"/>
            <a:ext cx="4937760" cy="822960"/>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60 minutes on one projector. A 40-minute period is too short for three traces.</a:t>
            </a:r>
            <a:endParaRPr lang="en-US" sz="1600" dirty="0"/>
          </a:p>
        </p:txBody>
      </p:sp>
      <p:sp>
        <p:nvSpPr>
          <p:cNvPr id="18" name="Text 16"/>
          <p:cNvSpPr/>
          <p:nvPr/>
        </p:nvSpPr>
        <p:spPr>
          <a:xfrm>
            <a:off x="6446520" y="3291840"/>
            <a:ext cx="4937760" cy="822960"/>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No account, no install, no live network. Copy the file and open it.</a:t>
            </a:r>
            <a:endParaRPr lang="en-US" sz="1600" dirty="0"/>
          </a:p>
        </p:txBody>
      </p:sp>
      <p:sp>
        <p:nvSpPr>
          <p:cNvPr id="19" name="Text 17"/>
          <p:cNvSpPr/>
          <p:nvPr/>
        </p:nvSpPr>
        <p:spPr>
          <a:xfrm>
            <a:off x="6446520" y="4251960"/>
            <a:ext cx="4937760" cy="822960"/>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If the file will not open, the worksheet tables still carry the lesson.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FE6"/>
        </a:solidFill>
      </p:bgPr>
    </p:bg>
    <p:spTree>
      <p:nvGrpSpPr>
        <p:cNvPr id="1" name=""/>
        <p:cNvGrpSpPr/>
        <p:nvPr/>
      </p:nvGrpSpPr>
      <p:grpSpPr>
        <a:xfrm>
          <a:off x="0" y="0"/>
          <a:ext cx="0" cy="0"/>
          <a:chOff x="0" y="0"/>
          <a:chExt cx="0" cy="0"/>
        </a:xfrm>
      </p:grpSpPr>
      <p:sp>
        <p:nvSpPr>
          <p:cNvPr id="2" name="Text 0"/>
          <p:cNvSpPr/>
          <p:nvPr/>
        </p:nvSpPr>
        <p:spPr>
          <a:xfrm>
            <a:off x="548640" y="347472"/>
            <a:ext cx="8412480" cy="292608"/>
          </a:xfrm>
          <a:prstGeom prst="rect">
            <a:avLst/>
          </a:prstGeom>
          <a:noFill/>
          <a:ln/>
        </p:spPr>
        <p:txBody>
          <a:bodyPr wrap="square" lIns="0" tIns="0" rIns="0" bIns="0" rtlCol="0" anchor="ctr"/>
          <a:lstStyle/>
          <a:p>
            <a:pPr indent="0" marL="0">
              <a:buNone/>
            </a:pPr>
            <a:r>
              <a:rPr lang="en-US" sz="1200" spc="220" kern="0" dirty="0">
                <a:solidFill>
                  <a:srgbClr val="5C6470"/>
                </a:solidFill>
                <a:latin typeface="Calibri" pitchFamily="34" charset="0"/>
                <a:ea typeface="Calibri" pitchFamily="34" charset="-122"/>
                <a:cs typeface="Calibri" pitchFamily="34" charset="-120"/>
              </a:rPr>
              <a:t>10    ·    MEMBER D    ·    ETHICS</a:t>
            </a:r>
            <a:endParaRPr lang="en-US" sz="1200" dirty="0"/>
          </a:p>
        </p:txBody>
      </p:sp>
      <p:sp>
        <p:nvSpPr>
          <p:cNvPr id="3" name="Text 1"/>
          <p:cNvSpPr/>
          <p:nvPr/>
        </p:nvSpPr>
        <p:spPr>
          <a:xfrm>
            <a:off x="10271455" y="347472"/>
            <a:ext cx="1371600" cy="292608"/>
          </a:xfrm>
          <a:prstGeom prst="rect">
            <a:avLst/>
          </a:prstGeom>
          <a:noFill/>
          <a:ln/>
        </p:spPr>
        <p:txBody>
          <a:bodyPr wrap="square" lIns="0" tIns="0" rIns="0" bIns="0" rtlCol="0" anchor="ctr"/>
          <a:lstStyle/>
          <a:p>
            <a:pPr algn="r" indent="0" marL="0">
              <a:buNone/>
            </a:pPr>
            <a:r>
              <a:rPr lang="en-US" sz="1200" dirty="0">
                <a:solidFill>
                  <a:srgbClr val="5C6470"/>
                </a:solidFill>
                <a:latin typeface="Calibri" pitchFamily="34" charset="0"/>
                <a:ea typeface="Calibri" pitchFamily="34" charset="-122"/>
                <a:cs typeface="Calibri" pitchFamily="34" charset="-120"/>
              </a:rPr>
              <a:t>10  /  11</a:t>
            </a:r>
            <a:endParaRPr lang="en-US" sz="1200" dirty="0"/>
          </a:p>
        </p:txBody>
      </p:sp>
      <p:sp>
        <p:nvSpPr>
          <p:cNvPr id="4" name="Shape 2"/>
          <p:cNvSpPr/>
          <p:nvPr/>
        </p:nvSpPr>
        <p:spPr>
          <a:xfrm>
            <a:off x="548640" y="6355080"/>
            <a:ext cx="11094415" cy="0"/>
          </a:xfrm>
          <a:prstGeom prst="line">
            <a:avLst/>
          </a:prstGeom>
          <a:noFill/>
          <a:ln w="9525">
            <a:solidFill>
              <a:srgbClr val="C9C0B2"/>
            </a:solidFill>
            <a:prstDash val="solid"/>
          </a:ln>
        </p:spPr>
      </p:sp>
      <p:sp>
        <p:nvSpPr>
          <p:cNvPr id="5" name="Text 3"/>
          <p:cNvSpPr/>
          <p:nvPr/>
        </p:nvSpPr>
        <p:spPr>
          <a:xfrm>
            <a:off x="548640" y="6473952"/>
            <a:ext cx="5669280" cy="256032"/>
          </a:xfrm>
          <a:prstGeom prst="rect">
            <a:avLst/>
          </a:prstGeom>
          <a:noFill/>
          <a:ln/>
        </p:spPr>
        <p:txBody>
          <a:bodyPr wrap="square" lIns="0" tIns="0" rIns="0" bIns="0" rtlCol="0" anchor="ctr"/>
          <a:lstStyle/>
          <a:p>
            <a:pPr indent="0" marL="0">
              <a:buNone/>
            </a:pPr>
            <a:r>
              <a:rPr lang="en-US" sz="1100" dirty="0">
                <a:solidFill>
                  <a:srgbClr val="5C6470"/>
                </a:solidFill>
                <a:latin typeface="Calibri" pitchFamily="34" charset="0"/>
                <a:ea typeface="Calibri" pitchFamily="34" charset="-122"/>
                <a:cs typeface="Calibri" pitchFamily="34" charset="-120"/>
              </a:rPr>
              <a:t>INT2065  ·  GROUP PROJECT</a:t>
            </a:r>
            <a:endParaRPr lang="en-US" sz="1100" dirty="0"/>
          </a:p>
        </p:txBody>
      </p:sp>
      <p:sp>
        <p:nvSpPr>
          <p:cNvPr id="6" name="Text 4"/>
          <p:cNvSpPr/>
          <p:nvPr/>
        </p:nvSpPr>
        <p:spPr>
          <a:xfrm>
            <a:off x="5973775" y="6473952"/>
            <a:ext cx="5669280" cy="256032"/>
          </a:xfrm>
          <a:prstGeom prst="rect">
            <a:avLst/>
          </a:prstGeom>
          <a:noFill/>
          <a:ln/>
        </p:spPr>
        <p:txBody>
          <a:bodyPr wrap="square" lIns="0" tIns="0" rIns="0" bIns="0" rtlCol="0" anchor="ctr"/>
          <a:lstStyle/>
          <a:p>
            <a:pPr algn="r" indent="0" marL="0">
              <a:buNone/>
            </a:pPr>
            <a:r>
              <a:rPr lang="en-US" sz="1100" dirty="0">
                <a:solidFill>
                  <a:srgbClr val="5C6470"/>
                </a:solidFill>
                <a:latin typeface="Calibri" pitchFamily="34" charset="0"/>
                <a:ea typeface="Calibri" pitchFamily="34" charset="-122"/>
                <a:cs typeface="Calibri" pitchFamily="34" charset="-120"/>
              </a:rPr>
              <a:t>EDB AI LITERACY, 2026</a:t>
            </a:r>
            <a:endParaRPr lang="en-US" sz="1100" dirty="0"/>
          </a:p>
        </p:txBody>
      </p:sp>
      <p:sp>
        <p:nvSpPr>
          <p:cNvPr id="7" name="Text 5"/>
          <p:cNvSpPr/>
          <p:nvPr/>
        </p:nvSpPr>
        <p:spPr>
          <a:xfrm>
            <a:off x="548640" y="713232"/>
            <a:ext cx="11064240" cy="475488"/>
          </a:xfrm>
          <a:prstGeom prst="rect">
            <a:avLst/>
          </a:prstGeom>
          <a:noFill/>
          <a:ln/>
        </p:spPr>
        <p:txBody>
          <a:bodyPr wrap="square" lIns="0" tIns="0" rIns="0" bIns="0" rtlCol="0" anchor="ctr"/>
          <a:lstStyle/>
          <a:p>
            <a:pPr indent="0" marL="0">
              <a:buNone/>
            </a:pPr>
            <a:r>
              <a:rPr lang="en-US" sz="2800" b="1" dirty="0">
                <a:solidFill>
                  <a:srgbClr val="16263D"/>
                </a:solidFill>
                <a:latin typeface="Calibri" pitchFamily="34" charset="0"/>
                <a:ea typeface="Calibri" pitchFamily="34" charset="-122"/>
                <a:cs typeface="Calibri" pitchFamily="34" charset="-120"/>
              </a:rPr>
              <a:t>The teacher stays responsible for the sentence</a:t>
            </a:r>
            <a:endParaRPr lang="en-US" sz="2800" dirty="0"/>
          </a:p>
        </p:txBody>
      </p:sp>
      <p:sp>
        <p:nvSpPr>
          <p:cNvPr id="8" name="Shape 6"/>
          <p:cNvSpPr/>
          <p:nvPr/>
        </p:nvSpPr>
        <p:spPr>
          <a:xfrm>
            <a:off x="548640" y="1463040"/>
            <a:ext cx="11109960" cy="1234440"/>
          </a:xfrm>
          <a:prstGeom prst="rect">
            <a:avLst/>
          </a:prstGeom>
          <a:solidFill>
            <a:srgbClr val="FFFFFF"/>
          </a:solidFill>
          <a:ln w="12700">
            <a:solidFill>
              <a:srgbClr val="C9C0B2"/>
            </a:solidFill>
            <a:prstDash val="solid"/>
          </a:ln>
        </p:spPr>
      </p:sp>
      <p:sp>
        <p:nvSpPr>
          <p:cNvPr id="9" name="Text 7"/>
          <p:cNvSpPr/>
          <p:nvPr/>
        </p:nvSpPr>
        <p:spPr>
          <a:xfrm>
            <a:off x="777240" y="1627632"/>
            <a:ext cx="2834640" cy="914400"/>
          </a:xfrm>
          <a:prstGeom prst="rect">
            <a:avLst/>
          </a:prstGeom>
          <a:noFill/>
          <a:ln/>
        </p:spPr>
        <p:txBody>
          <a:bodyPr wrap="square" lIns="0" tIns="0" rIns="0" bIns="0" rtlCol="0" anchor="ctr"/>
          <a:lstStyle/>
          <a:p>
            <a:pPr indent="0" marL="0">
              <a:buNone/>
            </a:pPr>
            <a:r>
              <a:rPr lang="en-US" sz="1800" b="1" dirty="0">
                <a:solidFill>
                  <a:srgbClr val="E8624D"/>
                </a:solidFill>
                <a:latin typeface="Calibri" pitchFamily="34" charset="0"/>
                <a:ea typeface="Calibri" pitchFamily="34" charset="-122"/>
                <a:cs typeface="Calibri" pitchFamily="34" charset="-120"/>
              </a:rPr>
              <a:t>Before class</a:t>
            </a:r>
            <a:endParaRPr lang="en-US" sz="1800" dirty="0"/>
          </a:p>
        </p:txBody>
      </p:sp>
      <p:sp>
        <p:nvSpPr>
          <p:cNvPr id="10" name="Text 8"/>
          <p:cNvSpPr/>
          <p:nvPr/>
        </p:nvSpPr>
        <p:spPr>
          <a:xfrm>
            <a:off x="3749040" y="1627632"/>
            <a:ext cx="7635240" cy="914400"/>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Every hint is read against the answer key. A sentence that gives the next number is rewritten.</a:t>
            </a:r>
            <a:endParaRPr lang="en-US" sz="1600" dirty="0"/>
          </a:p>
        </p:txBody>
      </p:sp>
      <p:sp>
        <p:nvSpPr>
          <p:cNvPr id="11" name="Shape 9"/>
          <p:cNvSpPr/>
          <p:nvPr/>
        </p:nvSpPr>
        <p:spPr>
          <a:xfrm>
            <a:off x="548640" y="2834640"/>
            <a:ext cx="11109960" cy="1234440"/>
          </a:xfrm>
          <a:prstGeom prst="rect">
            <a:avLst/>
          </a:prstGeom>
          <a:solidFill>
            <a:srgbClr val="FFFFFF"/>
          </a:solidFill>
          <a:ln w="12700">
            <a:solidFill>
              <a:srgbClr val="C9C0B2"/>
            </a:solidFill>
            <a:prstDash val="solid"/>
          </a:ln>
        </p:spPr>
      </p:sp>
      <p:sp>
        <p:nvSpPr>
          <p:cNvPr id="12" name="Text 10"/>
          <p:cNvSpPr/>
          <p:nvPr/>
        </p:nvSpPr>
        <p:spPr>
          <a:xfrm>
            <a:off x="777240" y="2999232"/>
            <a:ext cx="2834640" cy="914400"/>
          </a:xfrm>
          <a:prstGeom prst="rect">
            <a:avLst/>
          </a:prstGeom>
          <a:noFill/>
          <a:ln/>
        </p:spPr>
        <p:txBody>
          <a:bodyPr wrap="square" lIns="0" tIns="0" rIns="0" bIns="0" rtlCol="0" anchor="ctr"/>
          <a:lstStyle/>
          <a:p>
            <a:pPr indent="0" marL="0">
              <a:buNone/>
            </a:pPr>
            <a:r>
              <a:rPr lang="en-US" sz="1800" b="1" dirty="0">
                <a:solidFill>
                  <a:srgbClr val="E8624D"/>
                </a:solidFill>
                <a:latin typeface="Calibri" pitchFamily="34" charset="0"/>
                <a:ea typeface="Calibri" pitchFamily="34" charset="-122"/>
                <a:cs typeface="Calibri" pitchFamily="34" charset="-120"/>
              </a:rPr>
              <a:t>In the last minute</a:t>
            </a:r>
            <a:endParaRPr lang="en-US" sz="1800" dirty="0"/>
          </a:p>
        </p:txBody>
      </p:sp>
      <p:sp>
        <p:nvSpPr>
          <p:cNvPr id="13" name="Text 11"/>
          <p:cNvSpPr/>
          <p:nvPr/>
        </p:nvSpPr>
        <p:spPr>
          <a:xfrm>
            <a:off x="3749040" y="2999232"/>
            <a:ext cx="7635240" cy="914400"/>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Students are told that a hint is not the answer. The trace has to be explained from the arrows.</a:t>
            </a:r>
            <a:endParaRPr lang="en-US" sz="1600" dirty="0"/>
          </a:p>
        </p:txBody>
      </p:sp>
      <p:sp>
        <p:nvSpPr>
          <p:cNvPr id="14" name="Shape 12"/>
          <p:cNvSpPr/>
          <p:nvPr/>
        </p:nvSpPr>
        <p:spPr>
          <a:xfrm>
            <a:off x="548640" y="4206240"/>
            <a:ext cx="11109960" cy="1234440"/>
          </a:xfrm>
          <a:prstGeom prst="rect">
            <a:avLst/>
          </a:prstGeom>
          <a:solidFill>
            <a:srgbClr val="FFFFFF"/>
          </a:solidFill>
          <a:ln w="12700">
            <a:solidFill>
              <a:srgbClr val="C9C0B2"/>
            </a:solidFill>
            <a:prstDash val="solid"/>
          </a:ln>
        </p:spPr>
      </p:sp>
      <p:sp>
        <p:nvSpPr>
          <p:cNvPr id="15" name="Text 13"/>
          <p:cNvSpPr/>
          <p:nvPr/>
        </p:nvSpPr>
        <p:spPr>
          <a:xfrm>
            <a:off x="777240" y="4370832"/>
            <a:ext cx="2834640" cy="914400"/>
          </a:xfrm>
          <a:prstGeom prst="rect">
            <a:avLst/>
          </a:prstGeom>
          <a:noFill/>
          <a:ln/>
        </p:spPr>
        <p:txBody>
          <a:bodyPr wrap="square" lIns="0" tIns="0" rIns="0" bIns="0" rtlCol="0" anchor="ctr"/>
          <a:lstStyle/>
          <a:p>
            <a:pPr indent="0" marL="0">
              <a:buNone/>
            </a:pPr>
            <a:r>
              <a:rPr lang="en-US" sz="1800" b="1" dirty="0">
                <a:solidFill>
                  <a:srgbClr val="E8624D"/>
                </a:solidFill>
                <a:latin typeface="Calibri" pitchFamily="34" charset="0"/>
                <a:ea typeface="Calibri" pitchFamily="34" charset="-122"/>
                <a:cs typeface="Calibri" pitchFamily="34" charset="-120"/>
              </a:rPr>
              <a:t>The framework</a:t>
            </a:r>
            <a:endParaRPr lang="en-US" sz="1800" dirty="0"/>
          </a:p>
        </p:txBody>
      </p:sp>
      <p:sp>
        <p:nvSpPr>
          <p:cNvPr id="16" name="Text 14"/>
          <p:cNvSpPr/>
          <p:nvPr/>
        </p:nvSpPr>
        <p:spPr>
          <a:xfrm>
            <a:off x="3749040" y="4370832"/>
            <a:ext cx="7635240" cy="914400"/>
          </a:xfrm>
          <a:prstGeom prst="rect">
            <a:avLst/>
          </a:prstGeom>
          <a:noFill/>
          <a:ln/>
        </p:spPr>
        <p:txBody>
          <a:bodyPr wrap="square" lIns="0" tIns="0" rIns="0" bIns="0" rtlCol="0" anchor="ctr"/>
          <a:lstStyle/>
          <a:p>
            <a:pPr indent="0" marL="0">
              <a:buNone/>
            </a:pPr>
            <a:r>
              <a:rPr lang="en-US" sz="1600" dirty="0">
                <a:solidFill>
                  <a:srgbClr val="16263D"/>
                </a:solidFill>
                <a:latin typeface="Calibri" pitchFamily="34" charset="0"/>
                <a:ea typeface="Calibri" pitchFamily="34" charset="-122"/>
                <a:cs typeface="Calibri" pitchFamily="34" charset="-120"/>
              </a:rPr>
              <a:t>EDB's AI Literacy Learning Framework (2026) keeps the teacher responsible for what learners see, and keeps the reasoning with the learner.</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548640" y="347472"/>
            <a:ext cx="8412480" cy="292608"/>
          </a:xfrm>
          <a:prstGeom prst="rect">
            <a:avLst/>
          </a:prstGeom>
          <a:noFill/>
          <a:ln/>
        </p:spPr>
        <p:txBody>
          <a:bodyPr wrap="square" lIns="0" tIns="0" rIns="0" bIns="0" rtlCol="0" anchor="ctr"/>
          <a:lstStyle/>
          <a:p>
            <a:pPr indent="0" marL="0">
              <a:buNone/>
            </a:pPr>
            <a:r>
              <a:rPr lang="en-US" sz="1200" spc="220" kern="0" dirty="0">
                <a:solidFill>
                  <a:srgbClr val="8590A0"/>
                </a:solidFill>
                <a:latin typeface="Calibri" pitchFamily="34" charset="0"/>
                <a:ea typeface="Calibri" pitchFamily="34" charset="-122"/>
                <a:cs typeface="Calibri" pitchFamily="34" charset="-120"/>
              </a:rPr>
              <a:t>11    ·    QUESTIONS</a:t>
            </a:r>
            <a:endParaRPr lang="en-US" sz="1200" dirty="0"/>
          </a:p>
        </p:txBody>
      </p:sp>
      <p:sp>
        <p:nvSpPr>
          <p:cNvPr id="3" name="Text 1"/>
          <p:cNvSpPr/>
          <p:nvPr/>
        </p:nvSpPr>
        <p:spPr>
          <a:xfrm>
            <a:off x="10271455" y="347472"/>
            <a:ext cx="1371600" cy="292608"/>
          </a:xfrm>
          <a:prstGeom prst="rect">
            <a:avLst/>
          </a:prstGeom>
          <a:noFill/>
          <a:ln/>
        </p:spPr>
        <p:txBody>
          <a:bodyPr wrap="square" lIns="0" tIns="0" rIns="0" bIns="0" rtlCol="0" anchor="ctr"/>
          <a:lstStyle/>
          <a:p>
            <a:pPr algn="r" indent="0" marL="0">
              <a:buNone/>
            </a:pPr>
            <a:r>
              <a:rPr lang="en-US" sz="1200" dirty="0">
                <a:solidFill>
                  <a:srgbClr val="8590A0"/>
                </a:solidFill>
                <a:latin typeface="Calibri" pitchFamily="34" charset="0"/>
                <a:ea typeface="Calibri" pitchFamily="34" charset="-122"/>
                <a:cs typeface="Calibri" pitchFamily="34" charset="-120"/>
              </a:rPr>
              <a:t>11  /  11</a:t>
            </a:r>
            <a:endParaRPr lang="en-US" sz="1200" dirty="0"/>
          </a:p>
        </p:txBody>
      </p:sp>
      <p:sp>
        <p:nvSpPr>
          <p:cNvPr id="4" name="Shape 2"/>
          <p:cNvSpPr/>
          <p:nvPr/>
        </p:nvSpPr>
        <p:spPr>
          <a:xfrm>
            <a:off x="548640" y="6355080"/>
            <a:ext cx="11094415" cy="0"/>
          </a:xfrm>
          <a:prstGeom prst="line">
            <a:avLst/>
          </a:prstGeom>
          <a:noFill/>
          <a:ln w="9525">
            <a:solidFill>
              <a:srgbClr val="2A3548"/>
            </a:solidFill>
            <a:prstDash val="solid"/>
          </a:ln>
        </p:spPr>
      </p:sp>
      <p:sp>
        <p:nvSpPr>
          <p:cNvPr id="5" name="Text 3"/>
          <p:cNvSpPr/>
          <p:nvPr/>
        </p:nvSpPr>
        <p:spPr>
          <a:xfrm>
            <a:off x="548640" y="6473952"/>
            <a:ext cx="5669280" cy="256032"/>
          </a:xfrm>
          <a:prstGeom prst="rect">
            <a:avLst/>
          </a:prstGeom>
          <a:noFill/>
          <a:ln/>
        </p:spPr>
        <p:txBody>
          <a:bodyPr wrap="square" lIns="0" tIns="0" rIns="0" bIns="0" rtlCol="0" anchor="ctr"/>
          <a:lstStyle/>
          <a:p>
            <a:pPr indent="0" marL="0">
              <a:buNone/>
            </a:pPr>
            <a:r>
              <a:rPr lang="en-US" sz="1100" dirty="0">
                <a:solidFill>
                  <a:srgbClr val="8590A0"/>
                </a:solidFill>
                <a:latin typeface="Calibri" pitchFamily="34" charset="0"/>
                <a:ea typeface="Calibri" pitchFamily="34" charset="-122"/>
                <a:cs typeface="Calibri" pitchFamily="34" charset="-120"/>
              </a:rPr>
              <a:t>INT2065  ·  GROUP PROJECT</a:t>
            </a:r>
            <a:endParaRPr lang="en-US" sz="1100" dirty="0"/>
          </a:p>
        </p:txBody>
      </p:sp>
      <p:sp>
        <p:nvSpPr>
          <p:cNvPr id="6" name="Text 4"/>
          <p:cNvSpPr/>
          <p:nvPr/>
        </p:nvSpPr>
        <p:spPr>
          <a:xfrm>
            <a:off x="5973775" y="6473952"/>
            <a:ext cx="5669280" cy="256032"/>
          </a:xfrm>
          <a:prstGeom prst="rect">
            <a:avLst/>
          </a:prstGeom>
          <a:noFill/>
          <a:ln/>
        </p:spPr>
        <p:txBody>
          <a:bodyPr wrap="square" lIns="0" tIns="0" rIns="0" bIns="0" rtlCol="0" anchor="ctr"/>
          <a:lstStyle/>
          <a:p>
            <a:pPr algn="r" indent="0" marL="0">
              <a:buNone/>
            </a:pPr>
            <a:r>
              <a:rPr lang="en-US" sz="1100" dirty="0">
                <a:solidFill>
                  <a:srgbClr val="8590A0"/>
                </a:solidFill>
                <a:latin typeface="Calibri" pitchFamily="34" charset="0"/>
                <a:ea typeface="Calibri" pitchFamily="34" charset="-122"/>
                <a:cs typeface="Calibri" pitchFamily="34" charset="-120"/>
              </a:rPr>
              <a:t>FIVE MINUTES</a:t>
            </a:r>
            <a:endParaRPr lang="en-US" sz="1100" dirty="0"/>
          </a:p>
        </p:txBody>
      </p:sp>
      <p:sp>
        <p:nvSpPr>
          <p:cNvPr id="7" name="Text 5"/>
          <p:cNvSpPr/>
          <p:nvPr/>
        </p:nvSpPr>
        <p:spPr>
          <a:xfrm>
            <a:off x="548640" y="777240"/>
            <a:ext cx="10972800" cy="502920"/>
          </a:xfrm>
          <a:prstGeom prst="rect">
            <a:avLst/>
          </a:prstGeom>
          <a:noFill/>
          <a:ln/>
        </p:spPr>
        <p:txBody>
          <a:bodyPr wrap="square" lIns="0" tIns="0" rIns="0" bIns="0" rtlCol="0" anchor="ctr"/>
          <a:lstStyle/>
          <a:p>
            <a:pPr indent="0" marL="0">
              <a:buNone/>
            </a:pPr>
            <a:r>
              <a:rPr lang="en-US" sz="3200" b="1" dirty="0">
                <a:solidFill>
                  <a:srgbClr val="F4EFE6"/>
                </a:solidFill>
                <a:latin typeface="Calibri" pitchFamily="34" charset="0"/>
                <a:ea typeface="Calibri" pitchFamily="34" charset="-122"/>
                <a:cs typeface="Calibri" pitchFamily="34" charset="-120"/>
              </a:rPr>
              <a:t>Who answers</a:t>
            </a:r>
            <a:endParaRPr lang="en-US" sz="3200" dirty="0"/>
          </a:p>
        </p:txBody>
      </p:sp>
      <p:sp>
        <p:nvSpPr>
          <p:cNvPr id="8" name="Text 6"/>
          <p:cNvSpPr/>
          <p:nvPr/>
        </p:nvSpPr>
        <p:spPr>
          <a:xfrm>
            <a:off x="640080" y="1554480"/>
            <a:ext cx="1005840" cy="777240"/>
          </a:xfrm>
          <a:prstGeom prst="rect">
            <a:avLst/>
          </a:prstGeom>
          <a:noFill/>
          <a:ln/>
        </p:spPr>
        <p:txBody>
          <a:bodyPr wrap="square" lIns="0" tIns="0" rIns="0" bIns="0" rtlCol="0" anchor="ctr"/>
          <a:lstStyle/>
          <a:p>
            <a:pPr indent="0" marL="0">
              <a:buNone/>
            </a:pPr>
            <a:r>
              <a:rPr lang="en-US" sz="2800" b="1" dirty="0">
                <a:solidFill>
                  <a:srgbClr val="E8624D"/>
                </a:solidFill>
                <a:latin typeface="Calibri" pitchFamily="34" charset="0"/>
                <a:ea typeface="Calibri" pitchFamily="34" charset="-122"/>
                <a:cs typeface="Calibri" pitchFamily="34" charset="-120"/>
              </a:rPr>
              <a:t>A</a:t>
            </a:r>
            <a:endParaRPr lang="en-US" sz="2800" dirty="0"/>
          </a:p>
        </p:txBody>
      </p:sp>
      <p:sp>
        <p:nvSpPr>
          <p:cNvPr id="9" name="Text 7"/>
          <p:cNvSpPr/>
          <p:nvPr/>
        </p:nvSpPr>
        <p:spPr>
          <a:xfrm>
            <a:off x="1828800" y="1554480"/>
            <a:ext cx="9509760" cy="777240"/>
          </a:xfrm>
          <a:prstGeom prst="rect">
            <a:avLst/>
          </a:prstGeom>
          <a:noFill/>
          <a:ln/>
        </p:spPr>
        <p:txBody>
          <a:bodyPr wrap="square" lIns="0" tIns="0" rIns="0" bIns="0" rtlCol="0" anchor="ctr"/>
          <a:lstStyle/>
          <a:p>
            <a:pPr indent="0" marL="0">
              <a:buNone/>
            </a:pPr>
            <a:r>
              <a:rPr lang="en-US" sz="2200" dirty="0">
                <a:solidFill>
                  <a:srgbClr val="F4EFE6"/>
                </a:solidFill>
                <a:latin typeface="Calibri" pitchFamily="34" charset="0"/>
                <a:ea typeface="Calibri" pitchFamily="34" charset="-122"/>
                <a:cs typeface="Calibri" pitchFamily="34" charset="-120"/>
              </a:rPr>
              <a:t>Curriculum and the five objectives</a:t>
            </a:r>
            <a:endParaRPr lang="en-US" sz="2200" dirty="0"/>
          </a:p>
        </p:txBody>
      </p:sp>
      <p:sp>
        <p:nvSpPr>
          <p:cNvPr id="10" name="Text 8"/>
          <p:cNvSpPr/>
          <p:nvPr/>
        </p:nvSpPr>
        <p:spPr>
          <a:xfrm>
            <a:off x="640080" y="2514600"/>
            <a:ext cx="1005840" cy="777240"/>
          </a:xfrm>
          <a:prstGeom prst="rect">
            <a:avLst/>
          </a:prstGeom>
          <a:noFill/>
          <a:ln/>
        </p:spPr>
        <p:txBody>
          <a:bodyPr wrap="square" lIns="0" tIns="0" rIns="0" bIns="0" rtlCol="0" anchor="ctr"/>
          <a:lstStyle/>
          <a:p>
            <a:pPr indent="0" marL="0">
              <a:buNone/>
            </a:pPr>
            <a:r>
              <a:rPr lang="en-US" sz="2800" b="1" dirty="0">
                <a:solidFill>
                  <a:srgbClr val="E8624D"/>
                </a:solidFill>
                <a:latin typeface="Calibri" pitchFamily="34" charset="0"/>
                <a:ea typeface="Calibri" pitchFamily="34" charset="-122"/>
                <a:cs typeface="Calibri" pitchFamily="34" charset="-120"/>
              </a:rPr>
              <a:t>B</a:t>
            </a:r>
            <a:endParaRPr lang="en-US" sz="2800" dirty="0"/>
          </a:p>
        </p:txBody>
      </p:sp>
      <p:sp>
        <p:nvSpPr>
          <p:cNvPr id="11" name="Text 9"/>
          <p:cNvSpPr/>
          <p:nvPr/>
        </p:nvSpPr>
        <p:spPr>
          <a:xfrm>
            <a:off x="1828800" y="2514600"/>
            <a:ext cx="9509760" cy="777240"/>
          </a:xfrm>
          <a:prstGeom prst="rect">
            <a:avLst/>
          </a:prstGeom>
          <a:noFill/>
          <a:ln/>
        </p:spPr>
        <p:txBody>
          <a:bodyPr wrap="square" lIns="0" tIns="0" rIns="0" bIns="0" rtlCol="0" anchor="ctr"/>
          <a:lstStyle/>
          <a:p>
            <a:pPr indent="0" marL="0">
              <a:buNone/>
            </a:pPr>
            <a:r>
              <a:rPr lang="en-US" sz="2200" dirty="0">
                <a:solidFill>
                  <a:srgbClr val="F4EFE6"/>
                </a:solidFill>
                <a:latin typeface="Calibri" pitchFamily="34" charset="0"/>
                <a:ea typeface="Calibri" pitchFamily="34" charset="-122"/>
                <a:cs typeface="Calibri" pitchFamily="34" charset="-120"/>
              </a:rPr>
              <a:t>Worksheet items and the answer key</a:t>
            </a:r>
            <a:endParaRPr lang="en-US" sz="2200" dirty="0"/>
          </a:p>
        </p:txBody>
      </p:sp>
      <p:sp>
        <p:nvSpPr>
          <p:cNvPr id="12" name="Text 10"/>
          <p:cNvSpPr/>
          <p:nvPr/>
        </p:nvSpPr>
        <p:spPr>
          <a:xfrm>
            <a:off x="640080" y="3474720"/>
            <a:ext cx="1005840" cy="777240"/>
          </a:xfrm>
          <a:prstGeom prst="rect">
            <a:avLst/>
          </a:prstGeom>
          <a:noFill/>
          <a:ln/>
        </p:spPr>
        <p:txBody>
          <a:bodyPr wrap="square" lIns="0" tIns="0" rIns="0" bIns="0" rtlCol="0" anchor="ctr"/>
          <a:lstStyle/>
          <a:p>
            <a:pPr indent="0" marL="0">
              <a:buNone/>
            </a:pPr>
            <a:r>
              <a:rPr lang="en-US" sz="2800" b="1" dirty="0">
                <a:solidFill>
                  <a:srgbClr val="E8624D"/>
                </a:solidFill>
                <a:latin typeface="Calibri" pitchFamily="34" charset="0"/>
                <a:ea typeface="Calibri" pitchFamily="34" charset="-122"/>
                <a:cs typeface="Calibri" pitchFamily="34" charset="-120"/>
              </a:rPr>
              <a:t>C</a:t>
            </a:r>
            <a:endParaRPr lang="en-US" sz="2800" dirty="0"/>
          </a:p>
        </p:txBody>
      </p:sp>
      <p:sp>
        <p:nvSpPr>
          <p:cNvPr id="13" name="Text 11"/>
          <p:cNvSpPr/>
          <p:nvPr/>
        </p:nvSpPr>
        <p:spPr>
          <a:xfrm>
            <a:off x="1828800" y="3474720"/>
            <a:ext cx="9509760" cy="777240"/>
          </a:xfrm>
          <a:prstGeom prst="rect">
            <a:avLst/>
          </a:prstGeom>
          <a:noFill/>
          <a:ln/>
        </p:spPr>
        <p:txBody>
          <a:bodyPr wrap="square" lIns="0" tIns="0" rIns="0" bIns="0" rtlCol="0" anchor="ctr"/>
          <a:lstStyle/>
          <a:p>
            <a:pPr indent="0" marL="0">
              <a:buNone/>
            </a:pPr>
            <a:r>
              <a:rPr lang="en-US" sz="2200" dirty="0">
                <a:solidFill>
                  <a:srgbClr val="F4EFE6"/>
                </a:solidFill>
                <a:latin typeface="Calibri" pitchFamily="34" charset="0"/>
                <a:ea typeface="Calibri" pitchFamily="34" charset="-122"/>
                <a:cs typeface="Calibri" pitchFamily="34" charset="-120"/>
              </a:rPr>
              <a:t>The page, the clicks, and the hints</a:t>
            </a:r>
            <a:endParaRPr lang="en-US" sz="2200" dirty="0"/>
          </a:p>
        </p:txBody>
      </p:sp>
      <p:sp>
        <p:nvSpPr>
          <p:cNvPr id="14" name="Text 12"/>
          <p:cNvSpPr/>
          <p:nvPr/>
        </p:nvSpPr>
        <p:spPr>
          <a:xfrm>
            <a:off x="640080" y="4434840"/>
            <a:ext cx="1005840" cy="777240"/>
          </a:xfrm>
          <a:prstGeom prst="rect">
            <a:avLst/>
          </a:prstGeom>
          <a:noFill/>
          <a:ln/>
        </p:spPr>
        <p:txBody>
          <a:bodyPr wrap="square" lIns="0" tIns="0" rIns="0" bIns="0" rtlCol="0" anchor="ctr"/>
          <a:lstStyle/>
          <a:p>
            <a:pPr indent="0" marL="0">
              <a:buNone/>
            </a:pPr>
            <a:r>
              <a:rPr lang="en-US" sz="2800" b="1" dirty="0">
                <a:solidFill>
                  <a:srgbClr val="E8624D"/>
                </a:solidFill>
                <a:latin typeface="Calibri" pitchFamily="34" charset="0"/>
                <a:ea typeface="Calibri" pitchFamily="34" charset="-122"/>
                <a:cs typeface="Calibri" pitchFamily="34" charset="-120"/>
              </a:rPr>
              <a:t>D</a:t>
            </a:r>
            <a:endParaRPr lang="en-US" sz="2800" dirty="0"/>
          </a:p>
        </p:txBody>
      </p:sp>
      <p:sp>
        <p:nvSpPr>
          <p:cNvPr id="15" name="Text 13"/>
          <p:cNvSpPr/>
          <p:nvPr/>
        </p:nvSpPr>
        <p:spPr>
          <a:xfrm>
            <a:off x="1828800" y="4434840"/>
            <a:ext cx="9509760" cy="777240"/>
          </a:xfrm>
          <a:prstGeom prst="rect">
            <a:avLst/>
          </a:prstGeom>
          <a:noFill/>
          <a:ln/>
        </p:spPr>
        <p:txBody>
          <a:bodyPr wrap="square" lIns="0" tIns="0" rIns="0" bIns="0" rtlCol="0" anchor="ctr"/>
          <a:lstStyle/>
          <a:p>
            <a:pPr indent="0" marL="0">
              <a:buNone/>
            </a:pPr>
            <a:r>
              <a:rPr lang="en-US" sz="2200" dirty="0">
                <a:solidFill>
                  <a:srgbClr val="F4EFE6"/>
                </a:solidFill>
                <a:latin typeface="Calibri" pitchFamily="34" charset="0"/>
                <a:ea typeface="Calibri" pitchFamily="34" charset="-122"/>
                <a:cs typeface="Calibri" pitchFamily="34" charset="-120"/>
              </a:rPr>
              <a:t>Time, the school lab, and ethics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INT2065 Group presentation — One change at a time</dc:title>
  <dc:subject>Stack, queue and linear linked list</dc:subject>
  <dc:creator>INT2065 group</dc:creator>
  <cp:lastModifiedBy>INT2065 group</cp:lastModifiedBy>
  <cp:revision>1</cp:revision>
  <dcterms:created xsi:type="dcterms:W3CDTF">2026-10-18T12:53:39Z</dcterms:created>
  <dcterms:modified xsi:type="dcterms:W3CDTF">2026-10-18T12:53:39Z</dcterms:modified>
</cp:coreProperties>
</file>